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CAD580-C51B-2D37-FADC-2D8BEB3810D3}" v="47" dt="2026-08-30T04:51:24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3A"/>
          </a:solidFill>
          <a:ln>
            <a:solidFill>
              <a:srgbClr val="0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IPCC Climate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0DCE4"/>
                </a:solidFill>
                <a:latin typeface="Aptos"/>
              </a:rPr>
              <a:t>GCP deployment overview and business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A grounded AI assistant for exploring IPCC city and climate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3291840" cy="50292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1846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PROJECT: ai-ippc  |  REGION: us-central1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9C7D2"/>
                </a:solidFill>
                <a:latin typeface="Aptos"/>
              </a:rPr>
              <a:t>Prepared from the deployed GCP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33A"/>
                </a:solidFill>
                <a:latin typeface="Aptos"/>
              </a:rPr>
              <a:t>1. The IPCC AI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Turning large climate reports into an accessible evidence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82296" cy="3474720"/>
          </a:xfrm>
          <a:prstGeom prst="rect">
            <a:avLst/>
          </a:prstGeom>
          <a:solidFill>
            <a:srgbClr val="C24A4A"/>
          </a:solidFill>
          <a:ln>
            <a:solidFill>
              <a:srgbClr val="C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39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39"/>
            <a:ext cx="3063239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IPCC reports are authoritative but long, technical and distributed across many chapters. Finding a precise, defensible answer can take significant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82296" cy="3474720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691639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48839"/>
            <a:ext cx="3063239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A conversational RAG assistant retrieves relevant report passages first, then asks Gemini to produce a clear answer grounded in those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0876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508760"/>
            <a:ext cx="82296" cy="3474720"/>
          </a:xfrm>
          <a:prstGeom prst="rect">
            <a:avLst/>
          </a:prstGeom>
          <a:solidFill>
            <a:srgbClr val="E8A937"/>
          </a:solidFill>
          <a:ln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691639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The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148839"/>
            <a:ext cx="3063239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Faster research for climate teams, city planners, students and policy stakeholders—with source visibility and original PDF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233A"/>
                </a:solidFill>
                <a:latin typeface="Aptos"/>
              </a:rPr>
              <a:t>Core principle: retrieve evidence → generate explanation → show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33A"/>
                </a:solidFill>
                <a:latin typeface="Aptos"/>
              </a:rPr>
              <a:t>2. What the application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Streamlit interface with five climate-report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1508760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Ask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39"/>
            <a:ext cx="292607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Semantic search + sourced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508760"/>
            <a:ext cx="82296" cy="1508760"/>
          </a:xfrm>
          <a:prstGeom prst="rect">
            <a:avLst/>
          </a:prstGeom>
          <a:solidFill>
            <a:srgbClr val="1C68A7"/>
          </a:solidFill>
          <a:ln>
            <a:solidFill>
              <a:srgbClr val="1C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39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Browse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48839"/>
            <a:ext cx="292607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Open or download original PDFs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087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82296" cy="1508760"/>
          </a:xfrm>
          <a:prstGeom prst="rect">
            <a:avLst/>
          </a:prstGeom>
          <a:solidFill>
            <a:srgbClr val="E8A937"/>
          </a:solidFill>
          <a:ln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1691639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Summarize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148839"/>
            <a:ext cx="292607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Generate report-level summaries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82296" cy="1508760"/>
          </a:xfrm>
          <a:prstGeom prst="rect">
            <a:avLst/>
          </a:prstGeom>
          <a:solidFill>
            <a:srgbClr val="4B9155"/>
          </a:solidFill>
          <a:ln>
            <a:solidFill>
              <a:srgbClr val="4B9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114800"/>
            <a:ext cx="292607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Critique and assess 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4747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474720"/>
            <a:ext cx="82296" cy="1508760"/>
          </a:xfrm>
          <a:prstGeom prst="rect">
            <a:avLst/>
          </a:prstGeom>
          <a:solidFill>
            <a:srgbClr val="C24A4A"/>
          </a:solidFill>
          <a:ln>
            <a:solidFill>
              <a:srgbClr val="C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657600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114800"/>
            <a:ext cx="292607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Suggest clearer or stronger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0644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C68A7"/>
                </a:solidFill>
                <a:latin typeface="Aptos"/>
              </a:rPr>
              <a:t>User interface: Streamlit  •  Backend: Python services  •  AI: Vertex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33A"/>
                </a:solidFill>
                <a:latin typeface="Aptos"/>
              </a:rPr>
              <a:t>3. GCP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Managed services separate storage, retrieval, intelligence and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16895"/>
            <a:ext cx="1737360" cy="777240"/>
          </a:xfrm>
          <a:prstGeom prst="roundRect">
            <a:avLst/>
          </a:prstGeom>
          <a:solidFill>
            <a:srgbClr val="1C68A7"/>
          </a:solidFill>
          <a:ln>
            <a:solidFill>
              <a:srgbClr val="1C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926623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IPCC PDFs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816895"/>
            <a:ext cx="1737360" cy="77724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2926623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Cloud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176815"/>
            <a:ext cx="1737360" cy="777240"/>
          </a:xfrm>
          <a:prstGeom prst="roundRect">
            <a:avLst/>
          </a:prstGeom>
          <a:solidFill>
            <a:srgbClr val="E8A937"/>
          </a:solidFill>
          <a:ln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79" y="2286543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BigQuery
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548415"/>
            <a:ext cx="1737360" cy="777240"/>
          </a:xfrm>
          <a:prstGeom prst="roundRect">
            <a:avLst/>
          </a:prstGeom>
          <a:solidFill>
            <a:srgbClr val="4B9155"/>
          </a:solidFill>
          <a:ln>
            <a:solidFill>
              <a:srgbClr val="4B9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79" y="3658143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BigQuery
Vector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176815"/>
            <a:ext cx="1737360" cy="777240"/>
          </a:xfrm>
          <a:prstGeom prst="roundRect">
            <a:avLst/>
          </a:prstGeom>
          <a:solidFill>
            <a:srgbClr val="1C68A7"/>
          </a:solidFill>
          <a:ln>
            <a:solidFill>
              <a:srgbClr val="1C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2286543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Vertex AI
Embeddings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548415"/>
            <a:ext cx="1737360" cy="777240"/>
          </a:xfrm>
          <a:prstGeom prst="roundRect">
            <a:avLst/>
          </a:prstGeom>
          <a:solidFill>
            <a:srgbClr val="C24A4A"/>
          </a:solidFill>
          <a:ln>
            <a:solidFill>
              <a:srgbClr val="C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3647993"/>
            <a:ext cx="1554480" cy="5232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Gemini
</a:t>
            </a:r>
            <a:r>
              <a:rPr lang="en-GB" sz="1400" b="1">
                <a:solidFill>
                  <a:srgbClr val="FFFFFF"/>
                </a:solidFill>
                <a:latin typeface="Aptos"/>
              </a:rPr>
              <a:t>3.6</a:t>
            </a:r>
            <a:r>
              <a:rPr sz="1400" b="1">
                <a:solidFill>
                  <a:srgbClr val="FFFFFF"/>
                </a:solidFill>
                <a:latin typeface="Aptos"/>
              </a:rPr>
              <a:t> Flash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816895"/>
            <a:ext cx="1737360" cy="777240"/>
          </a:xfrm>
          <a:prstGeom prst="roundRect">
            <a:avLst/>
          </a:prstGeom>
          <a:solidFill>
            <a:srgbClr val="0B233A"/>
          </a:solidFill>
          <a:ln>
            <a:solidFill>
              <a:srgbClr val="0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3024194"/>
            <a:ext cx="1554480" cy="3077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Cloud Run</a:t>
            </a:r>
            <a:endParaRPr lang="en-US" sz="14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3210087"/>
            <a:ext cx="32004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60" y="2570007"/>
            <a:ext cx="411480" cy="64008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80560" y="3210087"/>
            <a:ext cx="411480" cy="73152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29400" y="2570007"/>
            <a:ext cx="6858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29400" y="3941607"/>
            <a:ext cx="6858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2570007"/>
            <a:ext cx="594360" cy="64008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052560" y="3210087"/>
            <a:ext cx="594360" cy="73152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Offline pipeline: upload → extract/chunk → embed → index.   Online path: question → retrieve top-k chunks → generate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33A"/>
                </a:solidFill>
                <a:latin typeface="Aptos"/>
              </a:rPr>
              <a:t>4. End-to-end RAG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How a user question becomes an evidence-based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61288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User asks a climate question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880360"/>
            <a:ext cx="4572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79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93008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Vertex AI converts question to vector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36592" y="2880360"/>
            <a:ext cx="4572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57800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24728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24728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BigQuery returns closest chunks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8312" y="2880360"/>
            <a:ext cx="4572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9519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56447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56447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399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Gemini writes the response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00032" y="2880360"/>
            <a:ext cx="457200" cy="0"/>
          </a:xfrm>
          <a:prstGeom prst="line">
            <a:avLst/>
          </a:prstGeom>
          <a:ln w="31750">
            <a:solidFill>
              <a:srgbClr val="009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21240" y="1828800"/>
            <a:ext cx="1783080" cy="2148840"/>
          </a:xfrm>
          <a:prstGeom prst="roundRect">
            <a:avLst/>
          </a:prstGeom>
          <a:solidFill>
            <a:srgbClr val="F1F7FA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88167" y="1325880"/>
            <a:ext cx="640080" cy="640080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88167" y="14356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1488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Cite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265176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33E"/>
                </a:solidFill>
                <a:latin typeface="Aptos"/>
              </a:rPr>
              <a:t>UI displays answer +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938B"/>
                </a:solidFill>
                <a:latin typeface="Aptos"/>
              </a:rPr>
              <a:t>Retrieval grounds the answer in IPCC content and reduces unsupported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33A"/>
                </a:solidFill>
                <a:latin typeface="Aptos"/>
              </a:rPr>
              <a:t>5. Verified GCP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Current resources in project ai-ippc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1600200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Cloud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39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ipcc-ai-project
Revision: 00007-lfs
100% traffic • 1 warm instance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508760"/>
            <a:ext cx="82296" cy="1600200"/>
          </a:xfrm>
          <a:prstGeom prst="rect">
            <a:avLst/>
          </a:prstGeom>
          <a:solidFill>
            <a:srgbClr val="1C68A7"/>
          </a:solidFill>
          <a:ln>
            <a:solidFill>
              <a:srgbClr val="1C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691639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Cloud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148839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ipcc-srcities-bucket-1
8 PDF objects
≈73.36 MiB 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82296" cy="1600200"/>
          </a:xfrm>
          <a:prstGeom prst="rect">
            <a:avLst/>
          </a:prstGeom>
          <a:solidFill>
            <a:srgbClr val="E8A937"/>
          </a:solidFill>
          <a:ln>
            <a:solidFill>
              <a:srgbClr val="E8A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49039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BigQuery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0624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Dataset: climate_ai
documents: 10,184 rows
embeddings: 10,184 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566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566160"/>
            <a:ext cx="82296" cy="1600200"/>
          </a:xfrm>
          <a:prstGeom prst="rect">
            <a:avLst/>
          </a:prstGeom>
          <a:solidFill>
            <a:srgbClr val="C24A4A"/>
          </a:solidFill>
          <a:ln>
            <a:solidFill>
              <a:srgbClr val="C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3749039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Vertex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20624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Region: us-central1
Gemini: gemini-2.5-flash
Embedding: text-embedding-005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C68A7"/>
                </a:solidFill>
                <a:latin typeface="Aptos"/>
              </a:rPr>
              <a:t>Project number: 510679909889  •  Billing enabled  •  Region: us-central1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33A"/>
                </a:solidFill>
                <a:latin typeface="Aptos"/>
              </a:rPr>
              <a:t>6. Deployment status and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The service is live after resolving a project-level billing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3474720"/>
          </a:xfrm>
          <a:prstGeom prst="rect">
            <a:avLst/>
          </a:prstGeom>
          <a:solidFill>
            <a:srgbClr val="C24A4A"/>
          </a:solidFill>
          <a:ln>
            <a:solidFill>
              <a:srgbClr val="C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39"/>
            <a:ext cx="301752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Cloud Run initially returned 500/503 because billing was disabled for the GCP project. Cloud Logging confirmed the cause.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82296" cy="3474720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39"/>
            <a:ext cx="301752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Billing account attached; service redeployed; runtime increased to 1 GiB memory with one minimum instance.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CF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82296" cy="3474720"/>
          </a:xfrm>
          <a:prstGeom prst="rect">
            <a:avLst/>
          </a:prstGeom>
          <a:solidFill>
            <a:srgbClr val="4B9155"/>
          </a:solidFill>
          <a:ln>
            <a:solidFill>
              <a:srgbClr val="4B9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Current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48839"/>
            <a:ext cx="301752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33E"/>
                </a:solidFill>
                <a:latin typeface="Aptos"/>
              </a:rPr>
              <a:t>Public endpoint verified with HTTP 200. The service is ready for functional testing of questions, summaries and document browsing.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B233A"/>
                </a:solidFill>
                <a:latin typeface="Aptos"/>
              </a:rPr>
              <a:t>Operational next step: test every UI workflow and monitor Vertex AI / BigQuery quotas.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33A"/>
                </a:solidFill>
                <a:latin typeface="Aptos"/>
              </a:rPr>
              <a:t>7. 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C68A7"/>
                </a:solidFill>
                <a:latin typeface="Aptos"/>
              </a:rPr>
              <a:t>Move from working deployment to production-ready climate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C68A7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256032" cy="256032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134416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44168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333E"/>
                </a:solidFill>
                <a:latin typeface="Aptos"/>
              </a:rPr>
              <a:t>Run user acceptance tests across all five workflows and verify source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256032" cy="256032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21284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Harden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12848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333E"/>
                </a:solidFill>
                <a:latin typeface="Aptos"/>
              </a:rPr>
              <a:t>Move all resource names to environment variables; remove stale scripts and add health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256032" cy="256032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308152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Secure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081528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333E"/>
                </a:solidFill>
                <a:latin typeface="Aptos"/>
              </a:rPr>
              <a:t>Use a dedicated least-privilege service account and restrict Cloud Run access if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77639"/>
            <a:ext cx="256032" cy="256032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950207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Operate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950207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333E"/>
                </a:solidFill>
                <a:latin typeface="Aptos"/>
              </a:rPr>
              <a:t>Add logging, alerts, quota monitoring and cost controls for Vertex AI and BigQuery.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46320"/>
            <a:ext cx="256032" cy="256032"/>
          </a:xfrm>
          <a:prstGeom prst="roundRect">
            <a:avLst/>
          </a:prstGeom>
          <a:solidFill>
            <a:srgbClr val="00938B"/>
          </a:solidFill>
          <a:ln>
            <a:solidFill>
              <a:srgbClr val="009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81888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3A"/>
                </a:solidFill>
                <a:latin typeface="Aptos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818888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333E"/>
                </a:solidFill>
                <a:latin typeface="Aptos"/>
              </a:rPr>
              <a:t>Add document ingestion automation and role-based access for teams and stakeholders.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938B"/>
                </a:solidFill>
                <a:latin typeface="Aptos"/>
              </a:rPr>
              <a:t>IPCC AI: evidence-led climate knowledge, delivered through managed GCP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2026-08-30T06:38:52Z</dcterms:modified>
  <cp:category/>
</cp:coreProperties>
</file>