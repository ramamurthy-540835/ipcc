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9875520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IPCC Climate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8961120" cy="4114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100" b="1">
                <a:solidFill>
                  <a:srgbClr val="B1DEE2"/>
                </a:solidFill>
                <a:latin typeface="Aptos"/>
              </a:rPr>
              <a:t>CEO / CIO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63240"/>
            <a:ext cx="7955279" cy="6858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From authoritative climate evidence to clear, defensible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074920"/>
            <a:ext cx="4114800" cy="457200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5175504"/>
            <a:ext cx="365760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GCP  •  RAG  •  IPCC CITIES  •  GEMINI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08192"/>
            <a:ext cx="658368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0">
                <a:solidFill>
                  <a:srgbClr val="B5CAD1"/>
                </a:solidFill>
                <a:latin typeface="Aptos"/>
              </a:rPr>
              <a:t>Project ai-ippc  |  us-central1  |  Prepared for executive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88720"/>
            <a:ext cx="3657600" cy="2286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1">
                <a:solidFill>
                  <a:srgbClr val="99E0D7"/>
                </a:solidFill>
                <a:latin typeface="Aptos"/>
              </a:rPr>
              <a:t>01  | 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9966960" cy="9601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8138160" cy="6858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000" b="0">
                <a:solidFill>
                  <a:srgbClr val="CFE4E8"/>
                </a:solidFill>
                <a:latin typeface="Aptos"/>
              </a:rPr>
              <a:t>Climate action depends on evidence. The first challenge is making that evidence usable.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1965960" cy="38404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5321808"/>
            <a:ext cx="1645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SECTION  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92240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9FB8C1"/>
                </a:solidFill>
                <a:latin typeface="Aptos"/>
              </a:rPr>
              <a:t>IPCC Climate AI  |  CEO / CIO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What is the IPCC?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A trusted global assessment body—and the knowledge foundation for this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361188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4708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◈  Evidence institution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267712"/>
            <a:ext cx="310896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The Intergovernmental Panel on Climate Change assesses and synthesizes scientific knowledge about climate change, impacts, risks, adaptation and mitigation.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73152" cy="361188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4708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⌁  Decision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267712"/>
            <a:ext cx="310896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Its assessments inform governments, researchers, city planners, educators and organizations that need a shared evidence 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73152" cy="3611880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84708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Responsible boundary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267712"/>
            <a:ext cx="310896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IPCC evidence is global and assessment-level. Local data, engineering, legal review, community input and accountable judgment still matter.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669280"/>
            <a:ext cx="9875520" cy="438912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The assistant improves access to evidence; it does not replace expert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Why cities need an evidence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Urban climate decisions are interconnected, time-sensitive and highly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73152" cy="3749039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73936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01  The city reality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94560"/>
            <a:ext cx="3108960" cy="298094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Heat, flooding, water stress, infrastructure disruption, health impacts and unequal exposure can compound each 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72768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72768"/>
            <a:ext cx="73152" cy="3749039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73936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02  The information reality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194560"/>
            <a:ext cx="3108960" cy="298094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Relevant evidence is distributed across long reports, chapters, annexes and technical language. Search time becomes decision delay.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72768"/>
            <a:ext cx="3520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72768"/>
            <a:ext cx="73152" cy="3749039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773936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03  The leadership reality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194560"/>
            <a:ext cx="3108960" cy="298094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Executives need concise implications, practitioners need detail, and everyone needs a route back to the original source.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715000"/>
            <a:ext cx="100584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Strategic opportunity: shorten the path from question  →  evidence  →  informed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The executive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A governed evidence assistant connects speed, trust and operational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370332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0136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OUTCOME  CEO lens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221992"/>
            <a:ext cx="3108960" cy="293522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Reduce research cycle time, improve briefing consistency, widen access to authoritative knowledge and support resilience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73152" cy="370332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0136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CONTROL  CIO lens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221992"/>
            <a:ext cx="3108960" cy="293522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Ground answers in approved sources; retain traceability; separate storage, retrieval and generation; control identity, cost and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520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73152" cy="3703320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801368"/>
            <a:ext cx="310896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TRUST  Risk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221992"/>
            <a:ext cx="3108960" cy="293522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Make uncertainty visible. Prevent unsupported claims, stale knowledge, uncontrolled access and model overreach.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742432"/>
            <a:ext cx="10195560" cy="384048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Faster insight is valuable only when it is governed, explainable and sustainable.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88720"/>
            <a:ext cx="3657600" cy="2286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1">
                <a:solidFill>
                  <a:srgbClr val="99E0D7"/>
                </a:solidFill>
                <a:latin typeface="Aptos"/>
              </a:rPr>
              <a:t>02  | 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9966960" cy="9601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One workspace, four ways to move from insight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8138160" cy="6858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000" b="0">
                <a:solidFill>
                  <a:srgbClr val="CFE4E8"/>
                </a:solidFill>
                <a:latin typeface="Aptos"/>
              </a:rPr>
              <a:t>The interface turns a complex report library into a guided research journey.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1965960" cy="38404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5321808"/>
            <a:ext cx="1645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SECTION 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92240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9FB8C1"/>
                </a:solidFill>
                <a:latin typeface="Aptos"/>
              </a:rPr>
              <a:t>IPCC Climate AI  |  CEO / CIO briefing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The product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Every screen has a job: orient, ask, verify, then analyze.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239572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2084831"/>
            <a:ext cx="502920" cy="502920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816352"/>
            <a:ext cx="1965960" cy="29260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3310128"/>
            <a:ext cx="1938528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Understand the workspace, library and available capabilities.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9815" y="3182112"/>
            <a:ext cx="347472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39" y="1847088"/>
            <a:ext cx="239572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21607" y="2084831"/>
            <a:ext cx="502920" cy="502920"/>
          </a:xfrm>
          <a:prstGeom prst="round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1607" y="2816352"/>
            <a:ext cx="1965960" cy="29260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Ask climate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7" y="3310128"/>
            <a:ext cx="1938528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Ask a natural-language question and receive a sourced answer.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888" y="3182112"/>
            <a:ext cx="347471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82512" y="1847088"/>
            <a:ext cx="239572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2084831"/>
            <a:ext cx="502920" cy="502920"/>
          </a:xfrm>
          <a:prstGeom prst="round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2816352"/>
            <a:ext cx="1965960" cy="29260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3310128"/>
            <a:ext cx="1938528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Browse the original IPCC reports and open the PDF evidence.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23959" y="3182112"/>
            <a:ext cx="347473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44584" y="1847088"/>
            <a:ext cx="2395728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2084831"/>
            <a:ext cx="502920" cy="502920"/>
          </a:xfrm>
          <a:prstGeom prst="round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5752" y="2816352"/>
            <a:ext cx="1965960" cy="29260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Analyze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5752" y="3310128"/>
            <a:ext cx="1938528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Summarize, review or find opportunities in a selected report.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532120"/>
            <a:ext cx="10058400" cy="457200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600" b="1">
                <a:solidFill>
                  <a:srgbClr val="122A3D"/>
                </a:solidFill>
                <a:latin typeface="Aptos"/>
              </a:rPr>
              <a:t>A research workspace: Discover  →  Understand  →  Verify  →  Communicate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What users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The application supports the full knowledge journey—not just chat.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73152" cy="150876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847088"/>
            <a:ext cx="2990088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⌕  Ask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2267712"/>
            <a:ext cx="2990088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Semantic search + source-linked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73152" cy="150876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847088"/>
            <a:ext cx="2990088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▤  Browse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2267712"/>
            <a:ext cx="2990088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Readable catalogue + original PDFs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64592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1645920"/>
            <a:ext cx="73152" cy="1508760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531352" y="1847088"/>
            <a:ext cx="2990088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✦  Summarize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267712"/>
            <a:ext cx="2990088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Executive-ready report orientation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73152" cy="1508760"/>
          </a:xfrm>
          <a:prstGeom prst="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3813048"/>
            <a:ext cx="2990088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" y="4233672"/>
            <a:ext cx="2990088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Themes, gaps, accuracy and readability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61188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611880"/>
            <a:ext cx="73152" cy="1508760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3813048"/>
            <a:ext cx="2990088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↗  Find opportunities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59" y="4233672"/>
            <a:ext cx="2990088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Stronger structure, communication and action ideas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733288"/>
            <a:ext cx="10149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Business outcome: less time navigating documents, more time interpreting evidence and deciding.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Ask climate AI: the trust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The user sees the answer—and can inspect why the answer was produced.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27632"/>
            <a:ext cx="73152" cy="356616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297180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01 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9424"/>
            <a:ext cx="2971800" cy="27980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300" b="0">
                <a:solidFill>
                  <a:srgbClr val="23363F"/>
                </a:solidFill>
                <a:latin typeface="Aptos"/>
              </a:rPr>
              <a:t>“How can cities reduce the risks of extreme heat for vulnerable residents?”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27632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627632"/>
            <a:ext cx="73152" cy="356616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1828800"/>
            <a:ext cx="297180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02 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2249424"/>
            <a:ext cx="2971800" cy="27980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300" b="0">
                <a:solidFill>
                  <a:srgbClr val="23363F"/>
                </a:solidFill>
                <a:latin typeface="Aptos"/>
              </a:rPr>
              <a:t>The system retrieves the most relevant IPCC passages and labels them by document and chunk.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627632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627632"/>
            <a:ext cx="73152" cy="3566160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1828800"/>
            <a:ext cx="297180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03 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7616" y="2249424"/>
            <a:ext cx="2971800" cy="27980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300" b="0">
                <a:solidFill>
                  <a:srgbClr val="23363F"/>
                </a:solidFill>
                <a:latin typeface="Aptos"/>
              </a:rPr>
              <a:t>Gemini writes a clear answer and the UI displays the sources used.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596128"/>
            <a:ext cx="10195560" cy="512064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600" b="1">
                <a:solidFill>
                  <a:srgbClr val="122A3D"/>
                </a:solidFill>
                <a:latin typeface="Aptos"/>
              </a:rPr>
              <a:t>Answer  +  source passages  +  original PDF  =  a verifiable research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88720"/>
            <a:ext cx="3657600" cy="2286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1">
                <a:solidFill>
                  <a:srgbClr val="99E0D7"/>
                </a:solidFill>
                <a:latin typeface="Aptos"/>
              </a:rPr>
              <a:t>03  | 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9966960" cy="9601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Grounded AI on managed GCP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8138160" cy="68580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000" b="0">
                <a:solidFill>
                  <a:srgbClr val="CFE4E8"/>
                </a:solidFill>
                <a:latin typeface="Aptos"/>
              </a:rPr>
              <a:t>The design separates source storage, retrieval, intelligence and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1965960" cy="38404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5321808"/>
            <a:ext cx="1645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SECTION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92240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9FB8C1"/>
                </a:solidFill>
                <a:latin typeface="Aptos"/>
              </a:rPr>
              <a:t>IPCC Climate AI  |  CEO / CIO briefing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Offline indexing prepares the library. Online retrieval powers the user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691640" cy="804672"/>
          </a:xfrm>
          <a:prstGeom prst="round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4144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IPCC PDFs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Source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331720"/>
            <a:ext cx="1691640" cy="804672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44144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Cloud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77063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Original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08760"/>
            <a:ext cx="1691640" cy="804672"/>
          </a:xfrm>
          <a:prstGeom prst="round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61848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BigQuery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94767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Text +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154680"/>
            <a:ext cx="1691640" cy="804672"/>
          </a:xfrm>
          <a:prstGeom prst="round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26440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Vector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59359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Semantic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508760"/>
            <a:ext cx="1691640" cy="804672"/>
          </a:xfrm>
          <a:prstGeom prst="round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848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Vertex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194767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154680"/>
            <a:ext cx="1691640" cy="804672"/>
          </a:xfrm>
          <a:prstGeom prst="round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26440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Gemini 3 Flash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59359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2331720"/>
            <a:ext cx="1691640" cy="804672"/>
          </a:xfrm>
          <a:prstGeom prst="roundRect">
            <a:avLst/>
          </a:prstGeom>
          <a:solidFill>
            <a:srgbClr val="122A3D"/>
          </a:solidFill>
          <a:ln>
            <a:solidFill>
              <a:srgbClr val="12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441448"/>
            <a:ext cx="150876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Cloud 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770632"/>
            <a:ext cx="150876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0" y="2734056"/>
            <a:ext cx="301752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206240" y="1920240"/>
            <a:ext cx="274320" cy="813816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06240" y="2734056"/>
            <a:ext cx="274320" cy="82296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17920" y="1920240"/>
            <a:ext cx="365760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17920" y="3557016"/>
            <a:ext cx="365760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1920240"/>
            <a:ext cx="548640" cy="813816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321040" y="2734056"/>
            <a:ext cx="548640" cy="82296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8680" y="5166360"/>
            <a:ext cx="10424160" cy="640080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OFFLINE  upload → extract → chunk → embed → index        |        ONLINE  question → retrieve top-k → generate → cite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RAG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Retrieval-augmented generation makes the model answer from the approved evidence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75564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1389888"/>
            <a:ext cx="658368" cy="65836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2331720"/>
            <a:ext cx="146304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2816352"/>
            <a:ext cx="1444752" cy="56692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100" b="0">
                <a:solidFill>
                  <a:srgbClr val="23363F"/>
                </a:solidFill>
                <a:latin typeface="Aptos"/>
              </a:rPr>
              <a:t>User asks naturally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0864" y="2971800"/>
            <a:ext cx="475488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874519"/>
            <a:ext cx="175564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389888"/>
            <a:ext cx="658368" cy="65836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26664" y="2331720"/>
            <a:ext cx="146304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Embed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2816352"/>
            <a:ext cx="1444752" cy="56692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100" b="0">
                <a:solidFill>
                  <a:srgbClr val="23363F"/>
                </a:solidFill>
                <a:latin typeface="Aptos"/>
              </a:rPr>
              <a:t>Meaning becomes a vector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72583" y="2971800"/>
            <a:ext cx="475489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79" y="1874519"/>
            <a:ext cx="175564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42431" y="1389888"/>
            <a:ext cx="658368" cy="65836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58383" y="2331720"/>
            <a:ext cx="146304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Retrieve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67527" y="2816352"/>
            <a:ext cx="1444752" cy="56692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100" b="0">
                <a:solidFill>
                  <a:srgbClr val="23363F"/>
                </a:solidFill>
                <a:latin typeface="Aptos"/>
              </a:rPr>
              <a:t>Closest report chunks found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4303" y="2971800"/>
            <a:ext cx="475489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43800" y="1874519"/>
            <a:ext cx="175564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1389888"/>
            <a:ext cx="658368" cy="65836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0104" y="2331720"/>
            <a:ext cx="146304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Generate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2816352"/>
            <a:ext cx="1444752" cy="56692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100" b="0">
                <a:solidFill>
                  <a:srgbClr val="23363F"/>
                </a:solidFill>
                <a:latin typeface="Aptos"/>
              </a:rPr>
              <a:t>Gemini explains the context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36024" y="2971800"/>
            <a:ext cx="475488" cy="0"/>
          </a:xfrm>
          <a:prstGeom prst="line">
            <a:avLst/>
          </a:prstGeom>
          <a:ln w="25400">
            <a:solidFill>
              <a:srgbClr val="1A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75519" y="1874519"/>
            <a:ext cx="1755648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05872" y="1389888"/>
            <a:ext cx="658368" cy="65836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1824" y="2331720"/>
            <a:ext cx="146304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400" b="1">
                <a:solidFill>
                  <a:srgbClr val="122A3D"/>
                </a:solidFill>
                <a:latin typeface="Aptos"/>
              </a:rPr>
              <a:t>Cite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30967" y="2816352"/>
            <a:ext cx="1444752" cy="56692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100" b="0">
                <a:solidFill>
                  <a:srgbClr val="23363F"/>
                </a:solidFill>
                <a:latin typeface="Aptos"/>
              </a:rPr>
              <a:t>Sources appear in the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5047488"/>
            <a:ext cx="10332720" cy="676656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Layman analogy: the model is an excellent writer, but RAG hands it the relevant pages from the approved briefing book before it writes.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Technology stack and why it was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Each service addresses a distinct responsibility in the operating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Cloud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Original PDFs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0603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Primary evidence is preserved and directly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1554480"/>
            <a:ext cx="73152" cy="150876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BigQuery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Documents + vectors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260603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Structured, queryable chunks and semantic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1554480"/>
            <a:ext cx="73152" cy="1508760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494776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Vertex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94776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Embeddings + Gemini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94776" y="260603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Meaning-based search and natural-language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74720"/>
            <a:ext cx="73152" cy="1508760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Cloud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Managed 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52627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Containerized deployment, scaling and operational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3474720"/>
            <a:ext cx="73152" cy="1508760"/>
          </a:xfrm>
          <a:prstGeom prst="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FastAPI + React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1728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Service + UX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1728" y="452627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Typed API boundary and responsive research workspace.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6175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5" y="3474720"/>
            <a:ext cx="73152" cy="1508760"/>
          </a:xfrm>
          <a:prstGeom prst="rect">
            <a:avLst/>
          </a:prstGeom>
          <a:solidFill>
            <a:srgbClr val="122A3D"/>
          </a:solidFill>
          <a:ln>
            <a:solidFill>
              <a:srgbClr val="12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494776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●  Prompts +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4776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Behavior + 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94776" y="4526279"/>
            <a:ext cx="292608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0" b="0">
                <a:solidFill>
                  <a:srgbClr val="667A83"/>
                </a:solidFill>
                <a:latin typeface="Aptos"/>
              </a:rPr>
              <a:t>Domain instructions, evaluation and repeatability.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What is running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The deployment demonstrates a connected, working foundation.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361188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0136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RUNTIME  Cloud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221992"/>
            <a:ext cx="301752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Service: ipcc-ai-project
100% traffic
1 warm instance
Revision 00007-lfs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600200"/>
            <a:ext cx="73152" cy="361188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99432" y="180136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DATA  Knowledge 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9432" y="2221992"/>
            <a:ext cx="301752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Cloud Storage: 8 PDFs
BigQuery: 10,184 document rows
10,184 embedding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1600200"/>
            <a:ext cx="73152" cy="3611880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330183" y="180136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MODELS  AI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0183" y="2221992"/>
            <a:ext cx="3017520" cy="284378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Region: us-central1
Gemini: gemini-3-flash-preview
Embeddings: text-embedding-005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50992"/>
            <a:ext cx="103327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Availability is necessary; answer quality, source accuracy and cost discipline are the next measures.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Production trust: controls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A CEO needs outcomes. A CIO needs evidence that the outcomes are controlled.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Faithfulness and source-relevance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1554480"/>
            <a:ext cx="73152" cy="1508760"/>
          </a:xfrm>
          <a:prstGeom prst="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8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Least-privilege identity and controlled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5544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1554480"/>
            <a:ext cx="73152" cy="1508760"/>
          </a:xfrm>
          <a:prstGeom prst="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494776" y="1755648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Freshness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2176272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Versioned documents and automated ingestion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73152" cy="1508760"/>
          </a:xfrm>
          <a:prstGeom prst="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Health checks, logs, alerts and quotas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3474720"/>
            <a:ext cx="73152" cy="1508760"/>
          </a:xfrm>
          <a:prstGeom prst="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Economics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Budgets, rate limits and cost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3474720"/>
            <a:ext cx="73152" cy="1508760"/>
          </a:xfrm>
          <a:prstGeom prst="rect">
            <a:avLst/>
          </a:prstGeom>
          <a:solidFill>
            <a:srgbClr val="122A3D"/>
          </a:solidFill>
          <a:ln>
            <a:solidFill>
              <a:srgbClr val="12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8494776" y="3675887"/>
            <a:ext cx="3017520" cy="25603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✓  Accountability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94776" y="4096511"/>
            <a:ext cx="3017520" cy="740664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23363F"/>
                </a:solidFill>
                <a:latin typeface="Aptos"/>
              </a:rPr>
              <a:t>Human review for high-impact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5715000"/>
            <a:ext cx="10241280" cy="384048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Trust is not a feature added after AI; it is the operating model around 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20116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900" b="1">
                <a:solidFill>
                  <a:srgbClr val="1A8980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0287000" cy="5029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700" b="1">
                <a:solidFill>
                  <a:srgbClr val="122A3D"/>
                </a:solidFill>
                <a:latin typeface="Aptos"/>
              </a:rPr>
              <a:t>Roadmap: prototype to production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332720" cy="31089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0">
                <a:solidFill>
                  <a:srgbClr val="667A83"/>
                </a:solidFill>
                <a:latin typeface="Aptos"/>
              </a:rPr>
              <a:t>The next phase is governed scale—not simply a larger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667A83"/>
                </a:solidFill>
                <a:latin typeface="Aptos"/>
              </a:rPr>
              <a:t>IPCC Climate AI  |  Evidence-led climate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r"/>
            <a:r>
              <a:rPr sz="900" b="1">
                <a:solidFill>
                  <a:srgbClr val="1A8980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292608" cy="292608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444752" y="1399032"/>
            <a:ext cx="1417320" cy="21945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Validate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399032"/>
            <a:ext cx="80467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User acceptance tests, golden questions and source accuracy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40280"/>
            <a:ext cx="292608" cy="292608"/>
          </a:xfrm>
          <a:prstGeom prst="roundRect">
            <a:avLst/>
          </a:prstGeom>
          <a:solidFill>
            <a:srgbClr val="2971AB"/>
          </a:solidFill>
          <a:ln>
            <a:solidFill>
              <a:srgbClr val="297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221992"/>
            <a:ext cx="1417320" cy="21945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Harden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221992"/>
            <a:ext cx="80467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Environment-driven configuration, health checks and cleanup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292608" cy="292608"/>
          </a:xfrm>
          <a:prstGeom prst="roundRect">
            <a:avLst/>
          </a:prstGeom>
          <a:solidFill>
            <a:srgbClr val="E19E48"/>
          </a:solidFill>
          <a:ln>
            <a:solidFill>
              <a:srgbClr val="E1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444752" y="3044952"/>
            <a:ext cx="1417320" cy="21945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Secure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044952"/>
            <a:ext cx="80467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Dedicated service account, authentication and role-based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292608" cy="292608"/>
          </a:xfrm>
          <a:prstGeom prst="roundRect">
            <a:avLst/>
          </a:prstGeom>
          <a:solidFill>
            <a:srgbClr val="4C915B"/>
          </a:solidFill>
          <a:ln>
            <a:solidFill>
              <a:srgbClr val="4C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44752" y="3867912"/>
            <a:ext cx="1417320" cy="21945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Operate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867912"/>
            <a:ext cx="80467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Logging, alerts, quota monitoring, budgets and runbooks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09160"/>
            <a:ext cx="292608" cy="292608"/>
          </a:xfrm>
          <a:prstGeom prst="roundRect">
            <a:avLst/>
          </a:prstGeom>
          <a:solidFill>
            <a:srgbClr val="BF4E4A"/>
          </a:solidFill>
          <a:ln>
            <a:solidFill>
              <a:srgbClr val="B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444752" y="4690872"/>
            <a:ext cx="1417320" cy="219456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400" b="1">
                <a:solidFill>
                  <a:srgbClr val="122A3D"/>
                </a:solidFill>
                <a:latin typeface="Aptos"/>
              </a:rPr>
              <a:t>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4690872"/>
            <a:ext cx="80467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200" b="0">
                <a:solidFill>
                  <a:srgbClr val="23363F"/>
                </a:solidFill>
                <a:latin typeface="Aptos"/>
              </a:rPr>
              <a:t>Automated ingestion, document versioning and team workspaces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806440"/>
            <a:ext cx="10241280" cy="411480"/>
          </a:xfrm>
          <a:prstGeom prst="roundRect">
            <a:avLst/>
          </a:prstGeom>
          <a:solidFill>
            <a:srgbClr val="E1F3ED"/>
          </a:solidFill>
          <a:ln>
            <a:solidFill>
              <a:srgbClr val="E1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ctr"/>
            <a:r>
              <a:rPr sz="1500" b="1">
                <a:solidFill>
                  <a:srgbClr val="122A3D"/>
                </a:solidFill>
                <a:latin typeface="Aptos"/>
              </a:rPr>
              <a:t>Decision ask: sponsor a measured pilot with explicit quality, security and cost gates.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9875520" cy="27432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1">
                <a:solidFill>
                  <a:srgbClr val="99E0D7"/>
                </a:solidFill>
                <a:latin typeface="Aptos"/>
              </a:rPr>
              <a:t>THE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9601200" cy="10058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Make evidence easier to use—without losing the ability to verify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154680"/>
            <a:ext cx="8961120" cy="777240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2000" b="0">
                <a:solidFill>
                  <a:srgbClr val="CFE4E8"/>
                </a:solidFill>
                <a:latin typeface="Aptos"/>
              </a:rPr>
              <a:t>IPCC Climate AI turns a difficult-to-navigate report library into a practical, source-grounded research conversation.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074920"/>
            <a:ext cx="4297680" cy="457200"/>
          </a:xfrm>
          <a:prstGeom prst="roundRect">
            <a:avLst/>
          </a:prstGeom>
          <a:solidFill>
            <a:srgbClr val="1A8980"/>
          </a:solidFill>
          <a:ln>
            <a:solidFill>
              <a:srgbClr val="1A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00" b="0">
                <a:solidFill>
                  <a:srgbClr val="23363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5175504"/>
            <a:ext cx="3840480" cy="201168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DISCOVER  •  VERIFY  •  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492240"/>
            <a:ext cx="7315200" cy="164592"/>
          </a:xfrm>
          <a:prstGeom prst="rect">
            <a:avLst/>
          </a:prstGeom>
          <a:solidFill>
            <a:srgbClr val="F4F9FA"/>
          </a:solidFill>
          <a:ln>
            <a:solidFill>
              <a:srgbClr val="F4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/>
            <a:r>
              <a:rPr sz="800" b="0">
                <a:solidFill>
                  <a:srgbClr val="9FB8C1"/>
                </a:solidFill>
                <a:latin typeface="Aptos"/>
              </a:rPr>
              <a:t>IPCC Climate AI  |  CEO / CIO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