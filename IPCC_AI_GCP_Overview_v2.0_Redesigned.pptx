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We turned the IPCC's massive, authoritative climate reports into a live assistant on Google Cloud that answers in minutes — and every answer is grounded in the original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The problem is access, not evidence. We move from weeks of expert searching to minutes of grounded conversation — and rigor survives because every answer shows its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The corpus is not just literature — every report survived a 5–7 year process with two review rounds, on-the-record author responses, and line-by-line government approval of the Summary for Policymakers. That is why grounding answers in it makes them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This is not a search box — it is five research workflows in one conversation: ask, browse, summarize, review and improve, all against the same trusted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Read the slide bottom-up — evidence lives in the knowledge layer, meaning is made in the intelligence layer, people work in the experience layer. Amber arrow = offline ingestion; teal arrow = every live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Walk the line left to right — the key design choice is station 3 before station 4. Evidence is fetched before a single word is generated, which is what makes answers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This is a verified deployment, not a proposal. The service is serving 100% of traffic, the full corpus is indexed 1:1, and the endpoint returns HTTP 200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The only outage was environmental (billing), not architectural. Diagnosis took minutes because logging was in place — and the fix left the service with more headroom than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We're asking for a decision to move along this staircase: validate and harden now, secure and operate next, then scale to more documents and more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223C"/>
              </a:gs>
              <a:gs pos="100000">
                <a:srgbClr val="144563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1080" y="2743200"/>
            <a:ext cx="1645920" cy="164592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19" y="2148839"/>
            <a:ext cx="2834640" cy="283464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59" y="1554479"/>
            <a:ext cx="4023360" cy="402336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960119"/>
            <a:ext cx="5212080" cy="521208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17558" y="3774476"/>
            <a:ext cx="146304" cy="146304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13589" y="3968615"/>
            <a:ext cx="164592" cy="16459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2270144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14765" y="2468879"/>
            <a:ext cx="182880" cy="182880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79370" y="5445285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24441" y="2387075"/>
            <a:ext cx="155448" cy="1554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99367" y="5641466"/>
            <a:ext cx="118872" cy="11887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20655" y="2798591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9719" y="3291840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36024" y="3438144"/>
            <a:ext cx="256032" cy="256032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234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6FD0C2"/>
                </a:solidFill>
                <a:latin typeface="Segoe UI"/>
              </a:rPr>
              <a:t>IPCC CLIMATE AI ASSISTANT  ·  GOOGLE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645920"/>
            <a:ext cx="7589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From thousands of pages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to one grounded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D9E4EC"/>
                </a:solidFill>
                <a:latin typeface="Segoe UI"/>
              </a:rPr>
              <a:t>A conversational assistant that retrieves IPCC evidence first, explains it in plain language, and always shows its 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8FE0CF"/>
                </a:solidFill>
                <a:latin typeface="Segoe UI Semibold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743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IPCC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0048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457200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8FE0CF"/>
                </a:solidFill>
                <a:latin typeface="Segoe UI Semibold"/>
              </a:rPr>
              <a:t>10,184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49743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indexed passages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54296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457200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8FE0CF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49743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workflows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8544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57200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9CE8B0"/>
                </a:solidFill>
                <a:latin typeface="Segoe UI Semibold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49743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on Cloud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722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spc="80">
                <a:solidFill>
                  <a:srgbClr val="7E95A8"/>
                </a:solidFill>
                <a:latin typeface="Segoe UI"/>
              </a:rPr>
              <a:t>PROJECT ai-ippc   ·   REGION us-central1   ·   Prepared from the deployed GCP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0C7B93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Authoritative evidence, locked in thousands of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The assistant closes the gap between rigorous IPCC science and the people who need it daily.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4892040" cy="3063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40">
                <a:solidFill>
                  <a:srgbClr val="5B6B79"/>
                </a:solidFill>
                <a:latin typeface="Segoe UI"/>
              </a:rPr>
              <a:t>TODAY — MANUAL RESEARCH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00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78024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Weeks of searching across chapters and working groups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264408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2783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Deep domain expertise needed just to locate a passage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14215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096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977639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Answers are hard to trace back to a defensible source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96128" y="3108960"/>
            <a:ext cx="960120" cy="5029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1828800"/>
            <a:ext cx="4892040" cy="3063240"/>
          </a:xfrm>
          <a:prstGeom prst="roundRect">
            <a:avLst>
              <a:gd name="adj" fmla="val 6000"/>
            </a:avLst>
          </a:prstGeom>
          <a:solidFill>
            <a:srgbClr val="E3F2EE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057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20">
                <a:solidFill>
                  <a:srgbClr val="1E7A52"/>
                </a:solidFill>
                <a:latin typeface="Segoe UI"/>
              </a:rPr>
              <a:t>WITH THE ASSISTANT — EVIDENCE ON DEMAND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2514600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505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478024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Minutes to a clear answer written in plain language</a:t>
            </a:r>
          </a:p>
        </p:txBody>
      </p:sp>
      <p:sp>
        <p:nvSpPr>
          <p:cNvPr id="25" name="Oval 24"/>
          <p:cNvSpPr/>
          <p:nvPr/>
        </p:nvSpPr>
        <p:spPr>
          <a:xfrm>
            <a:off x="7040880" y="3264408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255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322783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Anyone can ask — planners, students, policy teams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4014215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005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3977639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Every answer cites its passages and links the original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30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9AA7B2"/>
                </a:solidFill>
                <a:latin typeface="Segoe UI"/>
              </a:rPr>
              <a:t>OPERATING PRINCIPLE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24865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Retrieve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7" y="5175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AA7B2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88736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8736" y="524865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Generate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5175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AA7B2"/>
                </a:solidFill>
                <a:latin typeface="Segoe U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14232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4232" y="524865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Show sources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Audience: climate teams, city planners, students and policy stakeholders — with source visibility and original PDF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5B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5B84C4"/>
                </a:solidFill>
                <a:latin typeface="Segoe UI"/>
              </a:rPr>
              <a:t>CONTEXT — HOW THE SOURCE REPORTS ARE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The five-to-seven-year lifecycle behind every IPCC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Each report in the corpus survives scoping, drafting, two review rounds and line-by-line government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788920"/>
            <a:ext cx="9006840" cy="0"/>
          </a:xfrm>
          <a:prstGeom prst="line">
            <a:avLst/>
          </a:prstGeom>
          <a:ln w="3175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61320" y="2788920"/>
            <a:ext cx="0" cy="2194560"/>
          </a:xfrm>
          <a:prstGeom prst="line">
            <a:avLst/>
          </a:prstGeom>
          <a:ln w="3175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234440" y="4983480"/>
            <a:ext cx="9326880" cy="0"/>
          </a:xfrm>
          <a:prstGeom prst="line">
            <a:avLst/>
          </a:prstGeom>
          <a:ln w="31750">
            <a:solidFill>
              <a:srgbClr val="D5DD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515600" y="2743200"/>
            <a:ext cx="91440" cy="91440"/>
          </a:xfrm>
          <a:prstGeom prst="ellipse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937760"/>
            <a:ext cx="91440" cy="91440"/>
          </a:xfrm>
          <a:prstGeom prst="ellipse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0759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26471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" y="2075687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" y="3136391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Governments approve outline,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schedule and budget</a:t>
            </a:r>
          </a:p>
        </p:txBody>
      </p:sp>
      <p:sp>
        <p:nvSpPr>
          <p:cNvPr id="17" name="Oval 16"/>
          <p:cNvSpPr/>
          <p:nvPr/>
        </p:nvSpPr>
        <p:spPr>
          <a:xfrm>
            <a:off x="341071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26471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75687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Select authors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136391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Bureau picks balanced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expert teams</a:t>
            </a:r>
          </a:p>
        </p:txBody>
      </p:sp>
      <p:sp>
        <p:nvSpPr>
          <p:cNvPr id="21" name="Oval 20"/>
          <p:cNvSpPr/>
          <p:nvPr/>
        </p:nvSpPr>
        <p:spPr>
          <a:xfrm>
            <a:off x="5513831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1" y="26471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C7B93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075687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Assess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136391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Published literature only —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no new research</a:t>
            </a:r>
          </a:p>
        </p:txBody>
      </p:sp>
      <p:sp>
        <p:nvSpPr>
          <p:cNvPr id="25" name="Oval 24"/>
          <p:cNvSpPr/>
          <p:nvPr/>
        </p:nvSpPr>
        <p:spPr>
          <a:xfrm>
            <a:off x="761695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2" y="26471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C7B9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75687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First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36391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Three Working Groups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draft chapters</a:t>
            </a:r>
          </a:p>
        </p:txBody>
      </p:sp>
      <p:sp>
        <p:nvSpPr>
          <p:cNvPr id="29" name="Oval 28"/>
          <p:cNvSpPr/>
          <p:nvPr/>
        </p:nvSpPr>
        <p:spPr>
          <a:xfrm>
            <a:off x="972007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26471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075687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Expert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136391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Every comment answered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on the record</a:t>
            </a:r>
          </a:p>
        </p:txBody>
      </p:sp>
      <p:sp>
        <p:nvSpPr>
          <p:cNvPr id="33" name="Oval 32"/>
          <p:cNvSpPr/>
          <p:nvPr/>
        </p:nvSpPr>
        <p:spPr>
          <a:xfrm>
            <a:off x="972007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2" y="484174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2702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Government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3309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Second draft + Summary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for Policymakers</a:t>
            </a:r>
          </a:p>
        </p:txBody>
      </p:sp>
      <p:sp>
        <p:nvSpPr>
          <p:cNvPr id="37" name="Oval 36"/>
          <p:cNvSpPr/>
          <p:nvPr/>
        </p:nvSpPr>
        <p:spPr>
          <a:xfrm>
            <a:off x="761695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484174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702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Final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309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Authors respond; final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SPM circulated</a:t>
            </a:r>
          </a:p>
        </p:txBody>
      </p:sp>
      <p:sp>
        <p:nvSpPr>
          <p:cNvPr id="41" name="Oval 40"/>
          <p:cNvSpPr/>
          <p:nvPr/>
        </p:nvSpPr>
        <p:spPr>
          <a:xfrm>
            <a:off x="5513831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3831" y="484174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 Semibold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42702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Endorsement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53309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Plenary approves the SPM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line by line</a:t>
            </a:r>
          </a:p>
        </p:txBody>
      </p:sp>
      <p:sp>
        <p:nvSpPr>
          <p:cNvPr id="45" name="Oval 44"/>
          <p:cNvSpPr/>
          <p:nvPr/>
        </p:nvSpPr>
        <p:spPr>
          <a:xfrm>
            <a:off x="341071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484174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 Semibold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2702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Publication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3309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Report, comments and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responses released</a:t>
            </a:r>
          </a:p>
        </p:txBody>
      </p:sp>
      <p:sp>
        <p:nvSpPr>
          <p:cNvPr id="49" name="Oval 48"/>
          <p:cNvSpPr/>
          <p:nvPr/>
        </p:nvSpPr>
        <p:spPr>
          <a:xfrm>
            <a:off x="130759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8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07592" y="484174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B6FB8"/>
                </a:solidFill>
                <a:latin typeface="Segoe UI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39" y="42702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Synthesis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39" y="53309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Working Groups integrated;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next cycle begins</a:t>
            </a:r>
          </a:p>
        </p:txBody>
      </p:sp>
      <p:sp>
        <p:nvSpPr>
          <p:cNvPr id="53" name="Circular Arrow 52"/>
          <p:cNvSpPr/>
          <p:nvPr/>
        </p:nvSpPr>
        <p:spPr>
          <a:xfrm>
            <a:off x="566928" y="4745736"/>
            <a:ext cx="475488" cy="475488"/>
          </a:xfrm>
          <a:prstGeom prst="circularArrow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74519" y="5989320"/>
            <a:ext cx="128016" cy="128016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5943600"/>
            <a:ext cx="7114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DEFINE</a:t>
            </a:r>
          </a:p>
        </p:txBody>
      </p:sp>
      <p:sp>
        <p:nvSpPr>
          <p:cNvPr id="56" name="Oval 55"/>
          <p:cNvSpPr/>
          <p:nvPr/>
        </p:nvSpPr>
        <p:spPr>
          <a:xfrm>
            <a:off x="3088843" y="5989320"/>
            <a:ext cx="128016" cy="128016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0011" y="5943600"/>
            <a:ext cx="13917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ASSESS &amp; DRAFT</a:t>
            </a:r>
          </a:p>
        </p:txBody>
      </p:sp>
      <p:sp>
        <p:nvSpPr>
          <p:cNvPr id="58" name="Oval 57"/>
          <p:cNvSpPr/>
          <p:nvPr/>
        </p:nvSpPr>
        <p:spPr>
          <a:xfrm>
            <a:off x="4983480" y="598932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84648" y="5943600"/>
            <a:ext cx="14767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REVIEW &amp; REFINE</a:t>
            </a:r>
          </a:p>
        </p:txBody>
      </p:sp>
      <p:sp>
        <p:nvSpPr>
          <p:cNvPr id="60" name="Oval 59"/>
          <p:cNvSpPr/>
          <p:nvPr/>
        </p:nvSpPr>
        <p:spPr>
          <a:xfrm>
            <a:off x="6963156" y="5989320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64324" y="5943600"/>
            <a:ext cx="16468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APPROVE &amp; PUBLISH</a:t>
            </a:r>
          </a:p>
        </p:txBody>
      </p:sp>
      <p:sp>
        <p:nvSpPr>
          <p:cNvPr id="62" name="Oval 61"/>
          <p:cNvSpPr/>
          <p:nvPr/>
        </p:nvSpPr>
        <p:spPr>
          <a:xfrm>
            <a:off x="9112910" y="5989320"/>
            <a:ext cx="128016" cy="128016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14078" y="594360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SYNTHESIZE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Sources: IPCC — Preparing Reports (ipcc.ch/about/preparingreports) · IPCC procedures (ipcc.ch/documentation/procedures) · IPCC Review Process factsheet,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0C7B93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One assistant, five ways to work with climate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Every workflow runs through the same conversation — no tooling change, no training curve.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6304" y="2727655"/>
            <a:ext cx="0" cy="1387145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487459" y="3686148"/>
            <a:ext cx="1608845" cy="428652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101983" y="4114800"/>
            <a:ext cx="994321" cy="1122223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4114800"/>
            <a:ext cx="994321" cy="1122223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6304" y="3686148"/>
            <a:ext cx="1608846" cy="428652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9376" y="2160727"/>
            <a:ext cx="1133856" cy="1133856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9376" y="2581351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9536" y="2471623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Semantic search with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sourced answers</a:t>
            </a:r>
          </a:p>
        </p:txBody>
      </p:sp>
      <p:sp>
        <p:nvSpPr>
          <p:cNvPr id="16" name="Oval 15"/>
          <p:cNvSpPr/>
          <p:nvPr/>
        </p:nvSpPr>
        <p:spPr>
          <a:xfrm>
            <a:off x="3920531" y="3119220"/>
            <a:ext cx="1133856" cy="1133856"/>
          </a:xfrm>
          <a:prstGeom prst="ellipse">
            <a:avLst/>
          </a:prstGeom>
          <a:solidFill>
            <a:srgbClr val="5B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0531" y="3539844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Browse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8550" y="3102137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Open or download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the original PDFs</a:t>
            </a:r>
          </a:p>
        </p:txBody>
      </p:sp>
      <p:sp>
        <p:nvSpPr>
          <p:cNvPr id="19" name="Oval 18"/>
          <p:cNvSpPr/>
          <p:nvPr/>
        </p:nvSpPr>
        <p:spPr>
          <a:xfrm>
            <a:off x="4535055" y="4670095"/>
            <a:ext cx="1133856" cy="113385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055" y="5090719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Summarize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337" y="577348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Report-level summaries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on demand</a:t>
            </a:r>
          </a:p>
        </p:txBody>
      </p:sp>
      <p:sp>
        <p:nvSpPr>
          <p:cNvPr id="22" name="Oval 21"/>
          <p:cNvSpPr/>
          <p:nvPr/>
        </p:nvSpPr>
        <p:spPr>
          <a:xfrm>
            <a:off x="6523697" y="4670095"/>
            <a:ext cx="1133856" cy="113385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3697" y="5090719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392" y="577348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Critique and assess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documents</a:t>
            </a:r>
          </a:p>
        </p:txBody>
      </p:sp>
      <p:sp>
        <p:nvSpPr>
          <p:cNvPr id="25" name="Oval 24"/>
          <p:cNvSpPr/>
          <p:nvPr/>
        </p:nvSpPr>
        <p:spPr>
          <a:xfrm>
            <a:off x="7138222" y="3119220"/>
            <a:ext cx="1133856" cy="1133856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8222" y="3539844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5179" y="3102137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Suggest clearer,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stronger content</a:t>
            </a:r>
          </a:p>
        </p:txBody>
      </p:sp>
      <p:sp>
        <p:nvSpPr>
          <p:cNvPr id="28" name="Oval 27"/>
          <p:cNvSpPr/>
          <p:nvPr/>
        </p:nvSpPr>
        <p:spPr>
          <a:xfrm>
            <a:off x="5227624" y="3246120"/>
            <a:ext cx="1737360" cy="173736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45328" y="3163824"/>
            <a:ext cx="1901952" cy="1901952"/>
          </a:xfrm>
          <a:prstGeom prst="ellipse">
            <a:avLst/>
          </a:prstGeom>
          <a:noFill/>
          <a:ln w="12700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7624" y="3785615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IPCC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7624" y="4133087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8C4D8"/>
                </a:solidFill>
                <a:latin typeface="Segoe UI"/>
              </a:rPr>
              <a:t>Assistant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Interface: Streamlit   ·   Backend: Python services   ·   Intelligence: Vertex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0C7B93"/>
                </a:solidFill>
                <a:latin typeface="Segoe UI"/>
              </a:rPr>
              <a:t>HOW IT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A three-layer platform: knowledge, intelligence,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Managed GCP services separate storage, retrieval, reasoning and presentation — nothing to patch, everything scales.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810512"/>
            <a:ext cx="8732520" cy="1115568"/>
          </a:xfrm>
          <a:prstGeom prst="roundRect">
            <a:avLst>
              <a:gd name="adj" fmla="val 7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929384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0B2E4F"/>
                </a:solidFill>
                <a:latin typeface="Segoe UI"/>
              </a:rPr>
              <a:t>EXPERIENCE  —  WHERE PEOPLE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03120"/>
            <a:ext cx="429768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3944" y="2327148"/>
            <a:ext cx="256032" cy="256032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208276"/>
            <a:ext cx="3675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Cloud Run  ·  Streamlit assistant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Public endpoint · 1 warm instance · 100% traffic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3127248"/>
            <a:ext cx="8732520" cy="1371600"/>
          </a:xfrm>
          <a:prstGeom prst="roundRect">
            <a:avLst>
              <a:gd name="adj" fmla="val 7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2461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0A6376"/>
                </a:solidFill>
                <a:latin typeface="Segoe UI"/>
              </a:rPr>
              <a:t>INTELLIGENCE  —  WHERE MEANING IS MADE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66160"/>
            <a:ext cx="26060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2304" y="3790187"/>
            <a:ext cx="256032" cy="25603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3671315"/>
            <a:ext cx="19842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Vertex AI Embeddings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text-embedding-005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566160"/>
            <a:ext cx="26060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21224" y="3790187"/>
            <a:ext cx="256032" cy="25603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3" y="3671315"/>
            <a:ext cx="19842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BigQuery Vector Search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top-k semantic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566160"/>
            <a:ext cx="246888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0144" y="3790187"/>
            <a:ext cx="256032" cy="25603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3671315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Gemini 2.5 Flash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grounded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4700016"/>
            <a:ext cx="8732520" cy="1234440"/>
          </a:xfrm>
          <a:prstGeom prst="roundRect">
            <a:avLst>
              <a:gd name="adj" fmla="val 7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8188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A56E1B"/>
                </a:solidFill>
                <a:latin typeface="Segoe UI"/>
              </a:rPr>
              <a:t>KNOWLEDGE  —  WHERE EVIDENCE LIVES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5074920"/>
            <a:ext cx="30175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63824" y="5298948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5180076"/>
            <a:ext cx="23957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Cloud Storage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8 IPCC PDF reports · ≈73 MiB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074920"/>
            <a:ext cx="30175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47104" y="5298948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5180076"/>
            <a:ext cx="23957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BigQuery documents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10,184 extracted passages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325880" y="1965960"/>
            <a:ext cx="0" cy="384048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6200000">
            <a:off x="-566928" y="3703320"/>
            <a:ext cx="37490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spc="60">
                <a:solidFill>
                  <a:srgbClr val="A56E1B"/>
                </a:solidFill>
                <a:latin typeface="Segoe UI"/>
              </a:rPr>
              <a:t>KNOWLEDGE PIPELINE (OFFLINE) · UPLOAD → CHUNK → EMBED → INDEX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27080" y="1965960"/>
            <a:ext cx="0" cy="3840480"/>
          </a:xfrm>
          <a:prstGeom prst="line">
            <a:avLst/>
          </a:prstGeom>
          <a:ln w="25400">
            <a:solidFill>
              <a:srgbClr val="0C7B93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5400000">
            <a:off x="9464040" y="3703320"/>
            <a:ext cx="37490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spc="60">
                <a:solidFill>
                  <a:srgbClr val="0A6376"/>
                </a:solidFill>
                <a:latin typeface="Segoe UI"/>
              </a:rPr>
              <a:t>QUESTION JOURNEY (LIVE) · ASK → RETRIEVE → ANSWER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Offline pipeline builds the knowledge once; the live path reuses it for every question at low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0C7B93"/>
                </a:solidFill>
                <a:latin typeface="Segoe UI"/>
              </a:rPr>
              <a:t>HOW ANSWERS ARE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The journey from question to defensible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Five stations — retrieval comes before generation, so the model explains evidence instead of inventing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3794760"/>
            <a:ext cx="2011680" cy="0"/>
          </a:xfrm>
          <a:prstGeom prst="line">
            <a:avLst/>
          </a:prstGeom>
          <a:ln w="63500">
            <a:solidFill>
              <a:srgbClr val="1453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3794760"/>
            <a:ext cx="2011680" cy="0"/>
          </a:xfrm>
          <a:prstGeom prst="line">
            <a:avLst/>
          </a:prstGeom>
          <a:ln w="63500">
            <a:solidFill>
              <a:srgbClr val="0C7B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57800" y="3794760"/>
            <a:ext cx="2011680" cy="0"/>
          </a:xfrm>
          <a:prstGeom prst="line">
            <a:avLst/>
          </a:prstGeom>
          <a:ln w="63500">
            <a:solidFill>
              <a:srgbClr val="1F8D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3794760"/>
            <a:ext cx="2011680" cy="0"/>
          </a:xfrm>
          <a:prstGeom prst="line">
            <a:avLst/>
          </a:prstGeom>
          <a:ln w="635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81160" y="3794760"/>
            <a:ext cx="1325880" cy="0"/>
          </a:xfrm>
          <a:prstGeom prst="line">
            <a:avLst/>
          </a:prstGeom>
          <a:ln w="635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378440" y="3493008"/>
            <a:ext cx="1417320" cy="60350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35661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Grounded,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cited answer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51129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639312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926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Segoe UI Semibold"/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5196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A user poses a climate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question in plain words</a:t>
            </a:r>
          </a:p>
        </p:txBody>
      </p:sp>
      <p:sp>
        <p:nvSpPr>
          <p:cNvPr id="19" name="Oval 18"/>
          <p:cNvSpPr/>
          <p:nvPr/>
        </p:nvSpPr>
        <p:spPr>
          <a:xfrm>
            <a:off x="2962656" y="351129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5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2656" y="3639312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45371"/>
                </a:solidFill>
                <a:latin typeface="Segoe UI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26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Segoe UI Semibold"/>
              </a:rPr>
              <a:t>Embed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5196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Vertex AI turns the question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into a semantic vector</a:t>
            </a:r>
          </a:p>
        </p:txBody>
      </p:sp>
      <p:sp>
        <p:nvSpPr>
          <p:cNvPr id="23" name="Oval 22"/>
          <p:cNvSpPr/>
          <p:nvPr/>
        </p:nvSpPr>
        <p:spPr>
          <a:xfrm>
            <a:off x="4974336" y="351129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3639312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C7B93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926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Segoe UI Semibold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5196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BigQuery returns the closest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IPCC passages (top-k)</a:t>
            </a:r>
          </a:p>
        </p:txBody>
      </p:sp>
      <p:sp>
        <p:nvSpPr>
          <p:cNvPr id="27" name="Oval 26"/>
          <p:cNvSpPr/>
          <p:nvPr/>
        </p:nvSpPr>
        <p:spPr>
          <a:xfrm>
            <a:off x="6986016" y="351129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8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016" y="3639312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8D80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926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Segoe UI Semibold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5196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Gemini writes the answer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from those passages only</a:t>
            </a:r>
          </a:p>
        </p:txBody>
      </p:sp>
      <p:sp>
        <p:nvSpPr>
          <p:cNvPr id="31" name="Oval 30"/>
          <p:cNvSpPr/>
          <p:nvPr/>
        </p:nvSpPr>
        <p:spPr>
          <a:xfrm>
            <a:off x="8997696" y="351129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7696" y="3639312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E9E6B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926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Segoe UI Semibold"/>
              </a:rPr>
              <a:t>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5196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The UI shows the answer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with sources and PDF links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03120" y="5394960"/>
            <a:ext cx="7955279" cy="658368"/>
          </a:xfrm>
          <a:prstGeom prst="roundRect">
            <a:avLst>
              <a:gd name="adj" fmla="val 14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553212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A6376"/>
                </a:solidFill>
                <a:latin typeface="Segoe UI Semibold"/>
              </a:rPr>
              <a:t>Why it matters   </a:t>
            </a:r>
            <a:r>
              <a:rPr sz="1100" b="0">
                <a:solidFill>
                  <a:srgbClr val="1C2B36"/>
                </a:solidFill>
                <a:latin typeface="Segoe UI"/>
              </a:rPr>
              <a:t>Retrieval grounds every response in IPCC content and sharply reduces unsupported generation.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Same pattern for all five workflows — only the prompt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2E9E6B"/>
                </a:solidFill>
                <a:latin typeface="Segoe UI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Live and verified in project ai-ippc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Every figure below was read from the deployed environment — not from a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566928"/>
            <a:ext cx="2450592" cy="475488"/>
          </a:xfrm>
          <a:prstGeom prst="roundRect">
            <a:avLst>
              <a:gd name="adj" fmla="val 50000"/>
            </a:avLst>
          </a:prstGeom>
          <a:solidFill>
            <a:srgbClr val="D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00032" y="722376"/>
            <a:ext cx="164592" cy="16459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658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60">
                <a:solidFill>
                  <a:srgbClr val="1E7A52"/>
                </a:solidFill>
                <a:latin typeface="Segoe UI"/>
              </a:rPr>
              <a:t>LIVE — HTTP 200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743200" cy="8229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45059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4F"/>
                </a:solidFill>
                <a:latin typeface="Segoe UI Semibol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traffic on latest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Cloud Run · ipcc-ai-project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313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Revision 00007-lfs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142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1 always-warm instance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65576" y="1874519"/>
            <a:ext cx="27432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45059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A33D"/>
                </a:solidFill>
                <a:latin typeface="Segoe UI Semibold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IPCC reports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Cloud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38313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ipcc-srcities-bucket-1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896" y="4142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≈73 MiB of source PDFs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82512" y="1874519"/>
            <a:ext cx="2743200" cy="82296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45059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C7B93"/>
                </a:solidFill>
                <a:latin typeface="Segoe UI Semibold"/>
              </a:rPr>
              <a:t>10,184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passages embedded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BigQuery · climate_ai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38313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documents = embeddings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142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full corpus coverage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9448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99448" y="1874519"/>
            <a:ext cx="2743200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8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245059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E9E6B"/>
                </a:solidFill>
                <a:latin typeface="Segoe UI Semibol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8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Vertex AI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3768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Gemini 2.5 Flash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8" y="38313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text-embedding-005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4142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Region us-central1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120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9AA7B2"/>
                </a:solidFill>
                <a:latin typeface="Segoe UI"/>
              </a:rPr>
              <a:t>INDEX COVERAGE — EVERY STORED PASSAGE IS EMBEDDED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440680"/>
            <a:ext cx="8778240" cy="310896"/>
          </a:xfrm>
          <a:prstGeom prst="roundRect">
            <a:avLst>
              <a:gd name="adj" fmla="val 50000"/>
            </a:avLst>
          </a:prstGeom>
          <a:solidFill>
            <a:srgbClr val="E4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5440680"/>
            <a:ext cx="877824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54223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E6B"/>
                </a:solidFill>
                <a:latin typeface="Segoe UI"/>
              </a:rPr>
              <a:t>10,184 / 10,184 · 100%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Project number 510679909889   ·   Billing enabled   ·   Region us-central1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E8A33D"/>
                </a:solidFill>
                <a:latin typeface="Segoe UI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One incident, resolved — and the platform is stronger for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A launch-day outage was diagnosed in logs, fixed at the root cause, and verified from the outside.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606040"/>
            <a:ext cx="9784080" cy="0"/>
          </a:xfrm>
          <a:prstGeom prst="line">
            <a:avLst/>
          </a:prstGeom>
          <a:ln w="3810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01952" y="2359152"/>
            <a:ext cx="493776" cy="493776"/>
          </a:xfrm>
          <a:prstGeom prst="ellipse">
            <a:avLst/>
          </a:prstGeom>
          <a:solidFill>
            <a:srgbClr val="D4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2459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160">
                <a:solidFill>
                  <a:srgbClr val="D45D5D"/>
                </a:solidFill>
                <a:latin typeface="Segoe UI"/>
              </a:rPr>
              <a:t>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3832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64008" cy="1783080"/>
          </a:xfrm>
          <a:prstGeom prst="rect">
            <a:avLst/>
          </a:prstGeom>
          <a:solidFill>
            <a:srgbClr val="D4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Segoe UI Semibold"/>
              </a:rPr>
              <a:t>Service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01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Cloud Run returned 500/503 errors. Cloud Logging traced the root cause: billing was disabled at project level.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2359152"/>
            <a:ext cx="493776" cy="49377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459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160">
                <a:solidFill>
                  <a:srgbClr val="E8A33D"/>
                </a:solidFill>
                <a:latin typeface="Segoe UI"/>
              </a:rPr>
              <a:t>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08960"/>
            <a:ext cx="33832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108960"/>
            <a:ext cx="64008" cy="1783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291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Segoe UI Semibold"/>
              </a:rPr>
              <a:t>Root cause fixed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301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Billing account attached and the service redeployed — memory raised to 1 GiB with one always-warm instance.</a:t>
            </a:r>
          </a:p>
        </p:txBody>
      </p:sp>
      <p:sp>
        <p:nvSpPr>
          <p:cNvPr id="23" name="Oval 22"/>
          <p:cNvSpPr/>
          <p:nvPr/>
        </p:nvSpPr>
        <p:spPr>
          <a:xfrm>
            <a:off x="9765792" y="2359152"/>
            <a:ext cx="493776" cy="49377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459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20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160">
                <a:solidFill>
                  <a:srgbClr val="2E9E6B"/>
                </a:solidFill>
                <a:latin typeface="Segoe UI"/>
              </a:rPr>
              <a:t>RESOLVED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108960"/>
            <a:ext cx="33832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108960"/>
            <a:ext cx="64008" cy="17830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59" y="3291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Segoe UI Semibold"/>
              </a:rPr>
              <a:t>Live and verified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36301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The public endpoint answers HTTP 200 and is ready for functional testing of all five workflows.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40">
                <a:solidFill>
                  <a:srgbClr val="9AA7B2"/>
                </a:solidFill>
                <a:latin typeface="Segoe UI"/>
              </a:rPr>
              <a:t>WHAT WE KEEP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52578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535838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C2B36"/>
                </a:solidFill>
                <a:latin typeface="Segoe UI"/>
              </a:rPr>
              <a:t>Logs find root causes fast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52578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535838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C2B36"/>
                </a:solidFill>
                <a:latin typeface="Segoe UI"/>
              </a:rPr>
              <a:t>Keep capacity headroom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52578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535838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C2B36"/>
                </a:solidFill>
                <a:latin typeface="Segoe UI"/>
              </a:rPr>
              <a:t>Verify from the outside 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Operational next step: exercise every UI workflow and monitor Vertex AI / BigQuery quotas.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2E9E6B"/>
                </a:solidFill>
                <a:latin typeface="Segoe UI"/>
              </a:rPr>
              <a:t>WHERE WE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C2B36"/>
                </a:solidFill>
                <a:latin typeface="Segoe UI Semibold"/>
              </a:rPr>
              <a:t>From working deployment to production climate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Each step compounds the last — validate what exists, then harden, secure, operate and scale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7B2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83480"/>
            <a:ext cx="2029968" cy="822959"/>
          </a:xfrm>
          <a:prstGeom prst="roundRect">
            <a:avLst>
              <a:gd name="adj" fmla="val 5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93208"/>
            <a:ext cx="2029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87368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UAT across all five workflows; verify source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4325112"/>
            <a:ext cx="2029968" cy="1481327"/>
          </a:xfrm>
          <a:prstGeom prst="roundRect">
            <a:avLst>
              <a:gd name="adj" fmla="val 5000"/>
            </a:avLst>
          </a:prstGeom>
          <a:solidFill>
            <a:srgbClr val="145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4434840"/>
            <a:ext cx="2029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Harden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429000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Config via environment variables; health checks; retire stale scripts.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3666744"/>
            <a:ext cx="2029968" cy="2139696"/>
          </a:xfrm>
          <a:prstGeom prst="roundRect">
            <a:avLst>
              <a:gd name="adj" fmla="val 5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3776472"/>
            <a:ext cx="2029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770632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Least-privilege service account; restrict Cloud Run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3008376"/>
            <a:ext cx="2029968" cy="2798063"/>
          </a:xfrm>
          <a:prstGeom prst="roundRect">
            <a:avLst>
              <a:gd name="adj" fmla="val 5000"/>
            </a:avLst>
          </a:prstGeom>
          <a:solidFill>
            <a:srgbClr val="1F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118104"/>
            <a:ext cx="2029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2112264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B6B79"/>
                </a:solidFill>
                <a:latin typeface="Segoe UI"/>
              </a:rPr>
              <a:t>Logging, alerting, quota and cost monitoring.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2350008"/>
            <a:ext cx="2029968" cy="3456431"/>
          </a:xfrm>
          <a:prstGeom prst="roundRect">
            <a:avLst>
              <a:gd name="adj" fmla="val 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2459736"/>
            <a:ext cx="2029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1784" y="2916936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E0F3E9"/>
                </a:solidFill>
                <a:latin typeface="Segoe UI"/>
              </a:rPr>
              <a:t>Automated document ingestion; role-based access for teams.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916168"/>
            <a:ext cx="10844784" cy="0"/>
          </a:xfrm>
          <a:prstGeom prst="line">
            <a:avLst/>
          </a:prstGeom>
          <a:ln w="1270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989320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200">
                <a:solidFill>
                  <a:srgbClr val="9AA7B2"/>
                </a:solidFill>
                <a:latin typeface="Segoe UI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5989320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200">
                <a:solidFill>
                  <a:srgbClr val="9AA7B2"/>
                </a:solidFill>
                <a:latin typeface="Segoe UI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5989320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spc="200">
                <a:solidFill>
                  <a:srgbClr val="9AA7B2"/>
                </a:solidFill>
                <a:latin typeface="Segoe UI"/>
              </a:rPr>
              <a:t>LATER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9582912" y="1664208"/>
            <a:ext cx="274320" cy="219456"/>
          </a:xfrm>
          <a:prstGeom prst="triangl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157276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80">
                <a:solidFill>
                  <a:srgbClr val="1E7A52"/>
                </a:solidFill>
                <a:latin typeface="Segoe UI"/>
              </a:rPr>
              <a:t>PRODUCTION-READY</a:t>
            </a:r>
          </a:p>
          <a:p>
            <a:pPr algn="l">
              <a:lnSpc>
                <a:spcPct val="115000"/>
              </a:lnSpc>
            </a:pPr>
            <a:r>
              <a:rPr sz="900" b="1" spc="80">
                <a:solidFill>
                  <a:srgbClr val="1E7A52"/>
                </a:solidFill>
                <a:latin typeface="Segoe UI"/>
              </a:rPr>
              <a:t>CLIMATE INTELLIGENCE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IPCC AI — evidence-led climate knowledge, delivered through managed GCP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IPCC Climate AI Assistant — Executive Overview</dc:title>
  <dc:subject/>
  <dc:creator>IPCC AI / GCP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