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1" r:id="rId3"/>
    <p:sldId id="260" r:id="rId4"/>
    <p:sldId id="257" r:id="rId5"/>
    <p:sldId id="259" r:id="rId6"/>
    <p:sldId id="258" r:id="rId7"/>
    <p:sldId id="262" r:id="rId8"/>
    <p:sldId id="277" r:id="rId9"/>
    <p:sldId id="276" r:id="rId10"/>
    <p:sldId id="263" r:id="rId11"/>
    <p:sldId id="265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E31464-6E7C-AA40-BA46-E1B9FB2F82ED}" v="44" dt="2026-08-30T08:10:39.2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842"/>
  </p:normalViewPr>
  <p:slideViewPr>
    <p:cSldViewPr snapToGrid="0" snapToObjects="1">
      <p:cViewPr>
        <p:scale>
          <a:sx n="100" d="100"/>
          <a:sy n="100" d="100"/>
        </p:scale>
        <p:origin x="80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774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Takeaway: We turned the IPCC's massive, authoritative climate reports into a live assistant on Google Cloud that answers in minutes — and every answer is grounded in the original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Takeaway: Cities are where climate impacts and accountability meet. The bottleneck is not evidence — it is the time between a question and a defensible answer. That path is what we compress.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Takeaway: The problem is access, not evidence. We move from weeks of expert searching to minutes of grounded conversation — and rigor survives because every answer shows its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Takeaway: This is not AI for AI's sake. AR6 WGII alone synthesized 34,000+ papers with 270 authors from 67 countries, and AR7 faces more literature and more blind spots. The information-retrieval research community (SIGIR MANILA24 workshop) has set an agenda — traceability, multilingual and grey literature, bias mitigation — and our platform already implements its first principle: retrieval with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Takeaway: The corpus is not just literature — every report survived a 5–7 year process with two review rounds, on-the-record author responses, and line-by-line government approval of the Summary for Policymakers. That is why grounding answers in it makes them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Takeaway: This is not a search box — it is five research workflows in one conversation: ask, browse, summarize, review and improve, all against the same trusted corpus.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Takeaway: Read the slide bottom-up — evidence lives in the knowledge layer, meaning is made in the intelligence layer, people work in the experience layer. Amber arrow = offline ingestion; teal arrow = every live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Takeaway: This is a verified deployment, not a proposal. The service is serving 100% of traffic, the full corpus is indexed 1:1, and the endpoint returns HTTP 200 publicly.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Takeaway: The future state is not a bigger model — it is smarter knowledge. We add two layers to the fabric we already run: an ontology (shared climate vocabulary) and an enterprise context graph (entities, relationships, lineage). Agents then consume and reason over shared meaning instead of raw text, with traceability built in. Teal loop = agents feeding on L4/L5; today's stack is L1–L3 and L7.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Takeaway: Close on the promise — speed without losing verifiability. The ask: endorse the pilot gates (quality, security, cost) and the knowledge-fabric investment for the future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223C"/>
              </a:gs>
              <a:gs pos="100000">
                <a:srgbClr val="144563"/>
              </a:gs>
            </a:gsLst>
            <a:lin ang="19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41080" y="2743200"/>
            <a:ext cx="1645920" cy="1645920"/>
          </a:xfrm>
          <a:prstGeom prst="ellipse">
            <a:avLst/>
          </a:prstGeom>
          <a:noFill/>
          <a:ln w="1143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46719" y="2148839"/>
            <a:ext cx="2834640" cy="2834640"/>
          </a:xfrm>
          <a:prstGeom prst="ellipse">
            <a:avLst/>
          </a:prstGeom>
          <a:noFill/>
          <a:ln w="1143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52359" y="1554479"/>
            <a:ext cx="4023360" cy="4023360"/>
          </a:xfrm>
          <a:prstGeom prst="ellipse">
            <a:avLst/>
          </a:prstGeom>
          <a:noFill/>
          <a:ln w="1143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0" y="960119"/>
            <a:ext cx="5212080" cy="5212080"/>
          </a:xfrm>
          <a:prstGeom prst="ellipse">
            <a:avLst/>
          </a:prstGeom>
          <a:noFill/>
          <a:ln w="1143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17558" y="3774476"/>
            <a:ext cx="146304" cy="146304"/>
          </a:xfrm>
          <a:prstGeom prst="ellipse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13589" y="3968615"/>
            <a:ext cx="164592" cy="16459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0" y="2270144"/>
            <a:ext cx="137160" cy="1371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14765" y="2468879"/>
            <a:ext cx="182880" cy="182880"/>
          </a:xfrm>
          <a:prstGeom prst="ellipse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879370" y="5445285"/>
            <a:ext cx="128016" cy="128016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024441" y="2387075"/>
            <a:ext cx="155448" cy="1554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899367" y="5641466"/>
            <a:ext cx="118872" cy="118872"/>
          </a:xfrm>
          <a:prstGeom prst="ellipse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820655" y="2798591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89719" y="3291840"/>
            <a:ext cx="548640" cy="54864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336024" y="3438144"/>
            <a:ext cx="256032" cy="256032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1234440"/>
            <a:ext cx="731520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spc="200" dirty="0">
                <a:solidFill>
                  <a:srgbClr val="6FD0C2"/>
                </a:solidFill>
                <a:latin typeface="Segoe UI"/>
              </a:rPr>
              <a:t>IPCC CLIMATE AI ASSISTAN</a:t>
            </a:r>
            <a:r>
              <a:rPr lang="en-US" sz="4000" b="1" spc="200" dirty="0">
                <a:solidFill>
                  <a:srgbClr val="6FD0C2"/>
                </a:solidFill>
                <a:latin typeface="Segoe UI"/>
              </a:rPr>
              <a:t>T</a:t>
            </a:r>
            <a:endParaRPr sz="4000" b="1" spc="200" dirty="0">
              <a:solidFill>
                <a:srgbClr val="6FD0C2"/>
              </a:solidFill>
              <a:latin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2543829"/>
            <a:ext cx="6583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00" dirty="0">
                <a:solidFill>
                  <a:srgbClr val="FFFFFF"/>
                </a:solidFill>
                <a:latin typeface="Aptos"/>
              </a:rPr>
              <a:t>A grounded AI assistant for exploring IPCC city and climate reports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434840"/>
            <a:ext cx="1783080" cy="91440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57200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8FE0CF"/>
                </a:solidFill>
                <a:latin typeface="Segoe UI Semibold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97433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D9E4EC"/>
                </a:solidFill>
                <a:latin typeface="Segoe UI"/>
              </a:rPr>
              <a:t>IPCC reports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70048" y="4434840"/>
            <a:ext cx="1783080" cy="91440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70048" y="457200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dirty="0">
                <a:solidFill>
                  <a:srgbClr val="8FE0CF"/>
                </a:solidFill>
                <a:latin typeface="Segoe UI Semibold"/>
              </a:rPr>
              <a:t>10,184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0048" y="497433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D9E4EC"/>
                </a:solidFill>
                <a:latin typeface="Segoe UI"/>
              </a:rPr>
              <a:t>indexed passages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54296" y="4434840"/>
            <a:ext cx="1783080" cy="91440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54296" y="457200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8FE0CF"/>
                </a:solidFill>
                <a:latin typeface="Segoe UI Semibol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4296" y="497433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D9E4EC"/>
                </a:solidFill>
                <a:latin typeface="Segoe UI"/>
              </a:rPr>
              <a:t>workflows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38544" y="4434840"/>
            <a:ext cx="1783080" cy="91440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38544" y="457200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9CE8B0"/>
                </a:solidFill>
                <a:latin typeface="Segoe UI Semibold"/>
              </a:rPr>
              <a:t>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38544" y="497433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D9E4EC"/>
                </a:solidFill>
                <a:latin typeface="Segoe UI"/>
              </a:rPr>
              <a:t>on Cloud 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17220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80" dirty="0">
                <a:solidFill>
                  <a:srgbClr val="7E95A8"/>
                </a:solidFill>
                <a:latin typeface="Segoe UI"/>
              </a:rPr>
              <a:t>PROJECT ai-</a:t>
            </a:r>
            <a:r>
              <a:rPr sz="950" b="0" spc="80" dirty="0" err="1">
                <a:solidFill>
                  <a:srgbClr val="7E95A8"/>
                </a:solidFill>
                <a:latin typeface="Segoe UI"/>
              </a:rPr>
              <a:t>ippc</a:t>
            </a:r>
            <a:r>
              <a:rPr sz="950" b="0" spc="80" dirty="0">
                <a:solidFill>
                  <a:srgbClr val="7E95A8"/>
                </a:solidFill>
                <a:latin typeface="Segoe UI"/>
              </a:rPr>
              <a:t>   ·   REGION us-central1   ·   Prepared from the deployed GCP environment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E7FF52-3EBE-D753-C486-EBDA919DB998}"/>
              </a:ext>
            </a:extLst>
          </p:cNvPr>
          <p:cNvSpPr txBox="1"/>
          <p:nvPr/>
        </p:nvSpPr>
        <p:spPr>
          <a:xfrm>
            <a:off x="685800" y="3061142"/>
            <a:ext cx="658368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900" b="1" dirty="0">
                <a:solidFill>
                  <a:srgbClr val="8FE0CF"/>
                </a:solidFill>
                <a:latin typeface="Segoe UI Semibold"/>
              </a:rPr>
              <a:t>By Ramamurthy &amp; Monisha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411480"/>
            <a:ext cx="104241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B233A"/>
                </a:solidFill>
                <a:latin typeface="Aptos"/>
              </a:rPr>
              <a:t>What is IPCC?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68A7"/>
                </a:solidFill>
                <a:latin typeface="Aptos"/>
              </a:rPr>
              <a:t>The global evidence institution behind the knowledge library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82296" cy="3520440"/>
          </a:xfrm>
          <a:prstGeom prst="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An evidence institution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33E"/>
                </a:solidFill>
                <a:latin typeface="Aptos"/>
              </a:rPr>
              <a:t>The Intergovernmental Panel on Climate Change assesses and synthesizes scientific knowledge about climate change, impacts, risks, adaptation and mitigation.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82296" cy="3520440"/>
          </a:xfrm>
          <a:prstGeom prst="rect">
            <a:avLst/>
          </a:prstGeom>
          <a:solidFill>
            <a:srgbClr val="1C68A7"/>
          </a:solidFill>
          <a:ln>
            <a:solidFill>
              <a:srgbClr val="1C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6459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A decision 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03120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33E"/>
                </a:solidFill>
                <a:latin typeface="Aptos"/>
              </a:rPr>
              <a:t>Its assessments inform governments, researchers, city planners, educators and organizations that need a shared, credible evidence base.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463040"/>
            <a:ext cx="82296" cy="3520440"/>
          </a:xfrm>
          <a:prstGeom prst="rect">
            <a:avLst/>
          </a:prstGeom>
          <a:solidFill>
            <a:srgbClr val="E8A937"/>
          </a:solidFill>
          <a:ln>
            <a:solidFill>
              <a:srgbClr val="E8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6459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Not a policy oracle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103120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33E"/>
                </a:solidFill>
                <a:latin typeface="Aptos"/>
              </a:rPr>
              <a:t>IPCC evidence is global and assessment-level. Local data, engineering analysis, legal review, community input and accountable decisions are still required.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233A"/>
                </a:solidFill>
                <a:latin typeface="Aptos"/>
              </a:rPr>
              <a:t>The assistant improves access to evidence; it does not replace expert judgment.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dirty="0">
                <a:solidFill>
                  <a:srgbClr val="1C2B36"/>
                </a:solidFill>
                <a:latin typeface="Segoe UI Semibold"/>
              </a:rPr>
              <a:t>Cities feel climate change first and decide under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B6B79"/>
                </a:solidFill>
                <a:latin typeface="Segoe UI"/>
              </a:rPr>
              <a:t>Urban climate decisions are interconnected, time-sensitive and highly visible.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3566160" cy="2606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3566160" cy="82296"/>
          </a:xfrm>
          <a:prstGeom prst="rect">
            <a:avLst/>
          </a:prstGeom>
          <a:solidFill>
            <a:srgbClr val="D4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1488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D45D5D"/>
                </a:solidFill>
                <a:latin typeface="Segoe UI Semi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6974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C2B36"/>
                </a:solidFill>
                <a:latin typeface="Segoe UI Semibold"/>
              </a:rPr>
              <a:t>The city reality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108960"/>
            <a:ext cx="3017520" cy="563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dirty="0">
                <a:solidFill>
                  <a:srgbClr val="5B6B79"/>
                </a:solidFill>
                <a:latin typeface="Segoe UI"/>
              </a:rPr>
              <a:t>Heat, flooding, water stress, infrastructure disruption and health impacts compound each other and exposure is unequal.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74519"/>
            <a:ext cx="3566160" cy="2606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15968" y="1874519"/>
            <a:ext cx="3566160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21488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E8A33D"/>
                </a:solidFill>
                <a:latin typeface="Segoe UI Semi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6974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C2B36"/>
                </a:solidFill>
                <a:latin typeface="Segoe UI Semibold"/>
              </a:rPr>
              <a:t>The information reality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108960"/>
            <a:ext cx="30175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B79"/>
                </a:solidFill>
                <a:latin typeface="Segoe UI"/>
              </a:rPr>
              <a:t>Relevant evidence is scattered across long reports, chapters, annexes and technical language. Search time becomes decision delay.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874519"/>
            <a:ext cx="3566160" cy="2606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83296" y="1874519"/>
            <a:ext cx="3566160" cy="82296"/>
          </a:xfrm>
          <a:prstGeom prst="rect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57616" y="21488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C7B93"/>
                </a:solidFill>
                <a:latin typeface="Segoe UI Semibol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26974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C2B36"/>
                </a:solidFill>
                <a:latin typeface="Segoe UI Semibold"/>
              </a:rPr>
              <a:t>The leadership reality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3108960"/>
            <a:ext cx="3017520" cy="563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dirty="0">
                <a:solidFill>
                  <a:srgbClr val="5B6B79"/>
                </a:solidFill>
                <a:latin typeface="Segoe UI"/>
              </a:rPr>
              <a:t>Executives need concise implications, practitioners need detail and everyone needs a route back to the original source.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102352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140">
                <a:solidFill>
                  <a:srgbClr val="9AA7B2"/>
                </a:solidFill>
                <a:latin typeface="Segoe UI"/>
              </a:rPr>
              <a:t>STRATEGIC</a:t>
            </a:r>
          </a:p>
          <a:p>
            <a:pPr algn="l">
              <a:lnSpc>
                <a:spcPct val="120000"/>
              </a:lnSpc>
            </a:pPr>
            <a:r>
              <a:rPr sz="1000" b="1" spc="140">
                <a:solidFill>
                  <a:srgbClr val="9AA7B2"/>
                </a:solidFill>
                <a:latin typeface="Segoe UI"/>
              </a:rPr>
              <a:t>OPPORTUNITY</a:t>
            </a:r>
          </a:p>
        </p:txBody>
      </p:sp>
      <p:sp>
        <p:nvSpPr>
          <p:cNvPr id="24" name="Chevron 23"/>
          <p:cNvSpPr/>
          <p:nvPr/>
        </p:nvSpPr>
        <p:spPr>
          <a:xfrm>
            <a:off x="3017520" y="5029200"/>
            <a:ext cx="2743200" cy="566928"/>
          </a:xfrm>
          <a:prstGeom prst="chevron">
            <a:avLst>
              <a:gd name="adj" fmla="val 50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46120" y="516636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Question</a:t>
            </a:r>
          </a:p>
        </p:txBody>
      </p:sp>
      <p:sp>
        <p:nvSpPr>
          <p:cNvPr id="26" name="Chevron 25"/>
          <p:cNvSpPr/>
          <p:nvPr/>
        </p:nvSpPr>
        <p:spPr>
          <a:xfrm>
            <a:off x="5870448" y="5029200"/>
            <a:ext cx="2743200" cy="566928"/>
          </a:xfrm>
          <a:prstGeom prst="chevron">
            <a:avLst>
              <a:gd name="adj" fmla="val 50000"/>
            </a:avLst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99048" y="516636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Evidence</a:t>
            </a:r>
          </a:p>
        </p:txBody>
      </p:sp>
      <p:sp>
        <p:nvSpPr>
          <p:cNvPr id="28" name="Chevron 27"/>
          <p:cNvSpPr/>
          <p:nvPr/>
        </p:nvSpPr>
        <p:spPr>
          <a:xfrm>
            <a:off x="8723376" y="5029200"/>
            <a:ext cx="2743200" cy="566928"/>
          </a:xfrm>
          <a:prstGeom prst="chevron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51976" y="516636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Informed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C2B36"/>
                </a:solidFill>
                <a:latin typeface="Segoe UI Semibold"/>
              </a:rPr>
              <a:t>Authoritative evidence, locked in thousands of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B6B79"/>
                </a:solidFill>
                <a:latin typeface="Segoe UI"/>
              </a:rPr>
              <a:t>The assistant closes the gap between rigorous IPCC science and the people who need it daily.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4892040" cy="306324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40">
                <a:solidFill>
                  <a:srgbClr val="5B6B79"/>
                </a:solidFill>
                <a:latin typeface="Segoe UI"/>
              </a:rPr>
              <a:t>TODAY — MANUAL RESEARCH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514600"/>
            <a:ext cx="274320" cy="274320"/>
          </a:xfrm>
          <a:prstGeom prst="ellipse">
            <a:avLst/>
          </a:prstGeom>
          <a:solidFill>
            <a:srgbClr val="F2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5546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D45D5D"/>
                </a:solidFill>
                <a:latin typeface="Segoe U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478024"/>
            <a:ext cx="3886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2B36"/>
                </a:solidFill>
                <a:latin typeface="Segoe UI"/>
              </a:rPr>
              <a:t>Weeks of searching across chapters and working groups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264408"/>
            <a:ext cx="274320" cy="274320"/>
          </a:xfrm>
          <a:prstGeom prst="ellipse">
            <a:avLst/>
          </a:prstGeom>
          <a:solidFill>
            <a:srgbClr val="F2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3044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D45D5D"/>
                </a:solidFill>
                <a:latin typeface="Segoe U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227832"/>
            <a:ext cx="3886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2B36"/>
                </a:solidFill>
                <a:latin typeface="Segoe UI"/>
              </a:rPr>
              <a:t>Deep domain expertise needed just to locate a passage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014215"/>
            <a:ext cx="274320" cy="274320"/>
          </a:xfrm>
          <a:prstGeom prst="ellipse">
            <a:avLst/>
          </a:prstGeom>
          <a:solidFill>
            <a:srgbClr val="F2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05424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D45D5D"/>
                </a:solidFill>
                <a:latin typeface="Segoe UI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977639"/>
            <a:ext cx="3886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2B36"/>
                </a:solidFill>
                <a:latin typeface="Segoe UI"/>
              </a:rPr>
              <a:t>Answers are hard to trace back to a defensible source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596128" y="3108960"/>
            <a:ext cx="960120" cy="5029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720840" y="1828800"/>
            <a:ext cx="4892040" cy="3063240"/>
          </a:xfrm>
          <a:prstGeom prst="roundRect">
            <a:avLst>
              <a:gd name="adj" fmla="val 6000"/>
            </a:avLst>
          </a:prstGeom>
          <a:solidFill>
            <a:srgbClr val="E3F2EE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0" y="205740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20">
                <a:solidFill>
                  <a:srgbClr val="1E7A52"/>
                </a:solidFill>
                <a:latin typeface="Segoe UI"/>
              </a:rPr>
              <a:t>WITH THE ASSISTANT — EVIDENCE ON DEMAND</a:t>
            </a:r>
          </a:p>
        </p:txBody>
      </p:sp>
      <p:sp>
        <p:nvSpPr>
          <p:cNvPr id="22" name="Oval 21"/>
          <p:cNvSpPr/>
          <p:nvPr/>
        </p:nvSpPr>
        <p:spPr>
          <a:xfrm>
            <a:off x="7040880" y="2514600"/>
            <a:ext cx="274320" cy="274320"/>
          </a:xfrm>
          <a:prstGeom prst="ellipse">
            <a:avLst/>
          </a:prstGeom>
          <a:solidFill>
            <a:srgbClr val="CF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257236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2E9E6B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2478024"/>
            <a:ext cx="3886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2B36"/>
                </a:solidFill>
                <a:latin typeface="Segoe UI"/>
              </a:rPr>
              <a:t>Minutes to a clear answer written in plain language</a:t>
            </a:r>
          </a:p>
        </p:txBody>
      </p:sp>
      <p:sp>
        <p:nvSpPr>
          <p:cNvPr id="25" name="Oval 24"/>
          <p:cNvSpPr/>
          <p:nvPr/>
        </p:nvSpPr>
        <p:spPr>
          <a:xfrm>
            <a:off x="7040880" y="3264408"/>
            <a:ext cx="274320" cy="274320"/>
          </a:xfrm>
          <a:prstGeom prst="ellipse">
            <a:avLst/>
          </a:prstGeom>
          <a:solidFill>
            <a:srgbClr val="CF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332217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E9E6B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0648" y="3227832"/>
            <a:ext cx="3886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2B36"/>
                </a:solidFill>
                <a:latin typeface="Segoe UI"/>
              </a:rPr>
              <a:t>Anyone can ask — planners, students, policy teams</a:t>
            </a:r>
          </a:p>
        </p:txBody>
      </p:sp>
      <p:sp>
        <p:nvSpPr>
          <p:cNvPr id="28" name="Oval 27"/>
          <p:cNvSpPr/>
          <p:nvPr/>
        </p:nvSpPr>
        <p:spPr>
          <a:xfrm>
            <a:off x="7040880" y="4014215"/>
            <a:ext cx="274320" cy="274320"/>
          </a:xfrm>
          <a:prstGeom prst="ellipse">
            <a:avLst/>
          </a:prstGeom>
          <a:solidFill>
            <a:srgbClr val="CF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07197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E9E6B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648" y="3977639"/>
            <a:ext cx="3886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2B36"/>
                </a:solidFill>
                <a:latin typeface="Segoe UI"/>
              </a:rPr>
              <a:t>Every answer cites its passages and links the original 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294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40" dirty="0">
                <a:solidFill>
                  <a:srgbClr val="9AA7B2"/>
                </a:solidFill>
                <a:latin typeface="Segoe UI"/>
              </a:rPr>
              <a:t>OPERATING PRINCIPLE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63240" y="5138928"/>
            <a:ext cx="2514600" cy="502920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63240" y="5282109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Segoe UI"/>
              </a:rPr>
              <a:t>Retrieve 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96127" y="517550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9AA7B2"/>
                </a:solidFill>
                <a:latin typeface="Segoe U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88736" y="5138928"/>
            <a:ext cx="2514600" cy="502920"/>
          </a:xfrm>
          <a:prstGeom prst="roundRect">
            <a:avLst>
              <a:gd name="adj" fmla="val 50000"/>
            </a:avLst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888736" y="5282109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Generate explanation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1624" y="517550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9AA7B2"/>
                </a:solidFill>
                <a:latin typeface="Segoe U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14232" y="5138928"/>
            <a:ext cx="2514600" cy="50292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14232" y="5282109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Show sources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B36"/>
                </a:solidFill>
                <a:latin typeface="Segoe UI Semibold"/>
              </a:rPr>
              <a:t>Why the IPCC needs AI: evidence grows faster than any author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dirty="0">
                <a:solidFill>
                  <a:srgbClr val="5B6B79"/>
                </a:solidFill>
                <a:latin typeface="Segoe UI"/>
              </a:rPr>
              <a:t>One working-group report already assesses tens of thousands of papers </a:t>
            </a:r>
            <a:r>
              <a:rPr lang="en-US" sz="1250" b="0" dirty="0">
                <a:solidFill>
                  <a:srgbClr val="5B6B79"/>
                </a:solidFill>
                <a:latin typeface="Segoe UI"/>
              </a:rPr>
              <a:t>-</a:t>
            </a:r>
            <a:r>
              <a:rPr sz="1250" b="0" dirty="0">
                <a:solidFill>
                  <a:srgbClr val="5B6B79"/>
                </a:solidFill>
                <a:latin typeface="Segoe UI"/>
              </a:rPr>
              <a:t> and the next cycle (AR7) faces more volume and more blind spots.</a:t>
            </a:r>
          </a:p>
        </p:txBody>
      </p:sp>
      <p:sp>
        <p:nvSpPr>
          <p:cNvPr id="8" name="Oval 7"/>
          <p:cNvSpPr/>
          <p:nvPr/>
        </p:nvSpPr>
        <p:spPr>
          <a:xfrm>
            <a:off x="1188720" y="2331720"/>
            <a:ext cx="1920240" cy="1920240"/>
          </a:xfrm>
          <a:prstGeom prst="ellipse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emibold"/>
              </a:rPr>
              <a:t>34,000+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4670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DCE8EF"/>
                </a:solidFill>
                <a:latin typeface="Segoe UI"/>
              </a:rPr>
              <a:t>papers assessed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0" y="1975103"/>
            <a:ext cx="1133856" cy="1133856"/>
          </a:xfrm>
          <a:prstGeom prst="ellipse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2267712"/>
            <a:ext cx="11338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 Semibold"/>
              </a:rPr>
              <a:t>270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596896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DCE8EF"/>
                </a:solidFill>
                <a:latin typeface="Segoe UI"/>
              </a:rPr>
              <a:t>authors</a:t>
            </a:r>
          </a:p>
        </p:txBody>
      </p:sp>
      <p:sp>
        <p:nvSpPr>
          <p:cNvPr id="14" name="Oval 13"/>
          <p:cNvSpPr/>
          <p:nvPr/>
        </p:nvSpPr>
        <p:spPr>
          <a:xfrm>
            <a:off x="3721608" y="3502152"/>
            <a:ext cx="1005840" cy="100584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21608" y="3730752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4059935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DCE8EF"/>
                </a:solidFill>
                <a:latin typeface="Segoe UI"/>
              </a:rPr>
              <a:t>countries</a:t>
            </a:r>
          </a:p>
        </p:txBody>
      </p:sp>
      <p:sp>
        <p:nvSpPr>
          <p:cNvPr id="17" name="Oval 16"/>
          <p:cNvSpPr/>
          <p:nvPr/>
        </p:nvSpPr>
        <p:spPr>
          <a:xfrm>
            <a:off x="2496312" y="4416552"/>
            <a:ext cx="822960" cy="8229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96312" y="4553712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6312" y="48828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DCE8EF"/>
                </a:solidFill>
                <a:latin typeface="Segoe UI"/>
              </a:rPr>
              <a:t>chapters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1828800"/>
            <a:ext cx="6199632" cy="1481328"/>
          </a:xfrm>
          <a:prstGeom prst="roundRect">
            <a:avLst>
              <a:gd name="adj" fmla="val 8000"/>
            </a:avLst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5000" y="1993392"/>
            <a:ext cx="5669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40">
                <a:solidFill>
                  <a:srgbClr val="A56E1B"/>
                </a:solidFill>
                <a:latin typeface="Segoe UI"/>
              </a:rPr>
              <a:t>THE AR7 TWIN CHALLENGE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2331720"/>
            <a:ext cx="2788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1C2B36"/>
                </a:solidFill>
                <a:latin typeface="Segoe UI Semibold"/>
              </a:rPr>
              <a:t>More volume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>
                <a:solidFill>
                  <a:srgbClr val="5B6B79"/>
                </a:solidFill>
                <a:latin typeface="Segoe UI"/>
              </a:rPr>
              <a:t>Climate literature is growing faster than author teams can sift.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331720"/>
            <a:ext cx="2697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1C2B36"/>
                </a:solidFill>
                <a:latin typeface="Segoe UI Semibold"/>
              </a:rPr>
              <a:t>More blind spots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>
                <a:solidFill>
                  <a:srgbClr val="5B6B79"/>
                </a:solidFill>
                <a:latin typeface="Segoe UI"/>
              </a:rPr>
              <a:t>Key regions and topics have little published English literature.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0680" y="3520440"/>
            <a:ext cx="61996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15000" y="3685032"/>
            <a:ext cx="5760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10">
                <a:solidFill>
                  <a:srgbClr val="9AA7B2"/>
                </a:solidFill>
                <a:latin typeface="Segoe UI"/>
              </a:rPr>
              <a:t>WHAT AI MUST DELIVER — SIGIR / MANILA24 RESEARCH AGENDA</a:t>
            </a:r>
          </a:p>
        </p:txBody>
      </p:sp>
      <p:sp>
        <p:nvSpPr>
          <p:cNvPr id="27" name="Oval 26"/>
          <p:cNvSpPr/>
          <p:nvPr/>
        </p:nvSpPr>
        <p:spPr>
          <a:xfrm>
            <a:off x="5742432" y="4069080"/>
            <a:ext cx="146304" cy="146304"/>
          </a:xfrm>
          <a:prstGeom prst="ellipse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16752" y="4005072"/>
            <a:ext cx="5486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1C2B36"/>
                </a:solidFill>
                <a:latin typeface="Segoe UI"/>
              </a:rPr>
              <a:t>Transparent, traceable evidence synthesis every claim carries its source</a:t>
            </a:r>
          </a:p>
        </p:txBody>
      </p:sp>
      <p:sp>
        <p:nvSpPr>
          <p:cNvPr id="29" name="Oval 28"/>
          <p:cNvSpPr/>
          <p:nvPr/>
        </p:nvSpPr>
        <p:spPr>
          <a:xfrm>
            <a:off x="5742432" y="4480560"/>
            <a:ext cx="146304" cy="14630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16752" y="44165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C2B36"/>
                </a:solidFill>
                <a:latin typeface="Segoe UI"/>
              </a:rPr>
              <a:t>Multilingual sources and grey literature widen the evidence net</a:t>
            </a:r>
          </a:p>
        </p:txBody>
      </p:sp>
      <p:sp>
        <p:nvSpPr>
          <p:cNvPr id="31" name="Oval 30"/>
          <p:cNvSpPr/>
          <p:nvPr/>
        </p:nvSpPr>
        <p:spPr>
          <a:xfrm>
            <a:off x="5742432" y="4892040"/>
            <a:ext cx="146304" cy="14630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16752" y="482803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C2B36"/>
                </a:solidFill>
                <a:latin typeface="Segoe UI"/>
              </a:rPr>
              <a:t>Bias mitigation across geographies, cultures and data-poor regions</a:t>
            </a:r>
          </a:p>
        </p:txBody>
      </p:sp>
      <p:sp>
        <p:nvSpPr>
          <p:cNvPr id="33" name="Oval 32"/>
          <p:cNvSpPr/>
          <p:nvPr/>
        </p:nvSpPr>
        <p:spPr>
          <a:xfrm>
            <a:off x="5742432" y="5303520"/>
            <a:ext cx="146304" cy="146304"/>
          </a:xfrm>
          <a:prstGeom prst="ellipse">
            <a:avLst/>
          </a:prstGeom>
          <a:solidFill>
            <a:srgbClr val="8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16752" y="523951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C2B36"/>
                </a:solidFill>
                <a:latin typeface="Segoe UI"/>
              </a:rPr>
              <a:t>Multi-modal retrieval: text, data, maps and community knowledge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C2B36"/>
                </a:solidFill>
                <a:latin typeface="Segoe UI Semibold"/>
              </a:rPr>
              <a:t>The five-to-seven-year lifecycle behind every IPCC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B6B79"/>
                </a:solidFill>
                <a:latin typeface="Segoe UI"/>
              </a:rPr>
              <a:t>Each report in the corpus survives scoping, drafting, two review rounds and line-by-line government approval.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4480" y="2788920"/>
            <a:ext cx="9006840" cy="0"/>
          </a:xfrm>
          <a:prstGeom prst="line">
            <a:avLst/>
          </a:prstGeom>
          <a:ln w="31750">
            <a:solidFill>
              <a:srgbClr val="D5D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561320" y="2788920"/>
            <a:ext cx="0" cy="2194560"/>
          </a:xfrm>
          <a:prstGeom prst="line">
            <a:avLst/>
          </a:prstGeom>
          <a:ln w="31750">
            <a:solidFill>
              <a:srgbClr val="D5D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234440" y="4983480"/>
            <a:ext cx="9326880" cy="0"/>
          </a:xfrm>
          <a:prstGeom prst="line">
            <a:avLst/>
          </a:prstGeom>
          <a:ln w="31750">
            <a:solidFill>
              <a:srgbClr val="D5DD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515600" y="2743200"/>
            <a:ext cx="91440" cy="91440"/>
          </a:xfrm>
          <a:prstGeom prst="ellipse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515600" y="4937760"/>
            <a:ext cx="91440" cy="91440"/>
          </a:xfrm>
          <a:prstGeom prst="ellipse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07592" y="2542032"/>
            <a:ext cx="493776" cy="49377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0B2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07592" y="2647188"/>
            <a:ext cx="493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Segoe UI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39" y="2075687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1C2B36"/>
                </a:solidFill>
                <a:latin typeface="Segoe UI Semibold"/>
              </a:rPr>
              <a:t>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39" y="3136391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Governments approve outline,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schedule and budget</a:t>
            </a:r>
          </a:p>
        </p:txBody>
      </p:sp>
      <p:sp>
        <p:nvSpPr>
          <p:cNvPr id="17" name="Oval 16"/>
          <p:cNvSpPr/>
          <p:nvPr/>
        </p:nvSpPr>
        <p:spPr>
          <a:xfrm>
            <a:off x="3410712" y="2542032"/>
            <a:ext cx="493776" cy="49377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0B2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10712" y="2647188"/>
            <a:ext cx="493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075687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1C2B36"/>
                </a:solidFill>
                <a:latin typeface="Segoe UI Semibold"/>
              </a:rPr>
              <a:t>Select authors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136391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Bureau picks balanced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expert teams</a:t>
            </a:r>
          </a:p>
        </p:txBody>
      </p:sp>
      <p:sp>
        <p:nvSpPr>
          <p:cNvPr id="21" name="Oval 20"/>
          <p:cNvSpPr/>
          <p:nvPr/>
        </p:nvSpPr>
        <p:spPr>
          <a:xfrm>
            <a:off x="5513831" y="2542032"/>
            <a:ext cx="493776" cy="49377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0C7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13831" y="2647188"/>
            <a:ext cx="493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C7B93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2075687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1C2B36"/>
                </a:solidFill>
                <a:latin typeface="Segoe UI Semibold"/>
              </a:rPr>
              <a:t>Assess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3136391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Published literature only —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no new research</a:t>
            </a:r>
          </a:p>
        </p:txBody>
      </p:sp>
      <p:sp>
        <p:nvSpPr>
          <p:cNvPr id="25" name="Oval 24"/>
          <p:cNvSpPr/>
          <p:nvPr/>
        </p:nvSpPr>
        <p:spPr>
          <a:xfrm>
            <a:off x="7616952" y="2542032"/>
            <a:ext cx="493776" cy="49377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0C7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16952" y="2647188"/>
            <a:ext cx="493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C7B93"/>
                </a:solidFill>
                <a:latin typeface="Segoe UI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075687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1C2B36"/>
                </a:solidFill>
                <a:latin typeface="Segoe UI Semibold"/>
              </a:rPr>
              <a:t>First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136391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Three Working Groups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draft chapters</a:t>
            </a:r>
          </a:p>
        </p:txBody>
      </p:sp>
      <p:sp>
        <p:nvSpPr>
          <p:cNvPr id="29" name="Oval 28"/>
          <p:cNvSpPr/>
          <p:nvPr/>
        </p:nvSpPr>
        <p:spPr>
          <a:xfrm>
            <a:off x="9720072" y="2542032"/>
            <a:ext cx="493776" cy="49377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20072" y="2647188"/>
            <a:ext cx="493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E8A33D"/>
                </a:solidFill>
                <a:latin typeface="Segoe UI Semibold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075687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1C2B36"/>
                </a:solidFill>
                <a:latin typeface="Segoe UI Semibold"/>
              </a:rPr>
              <a:t>Expert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136391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Every comment answered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on the record</a:t>
            </a:r>
          </a:p>
        </p:txBody>
      </p:sp>
      <p:sp>
        <p:nvSpPr>
          <p:cNvPr id="33" name="Oval 32"/>
          <p:cNvSpPr/>
          <p:nvPr/>
        </p:nvSpPr>
        <p:spPr>
          <a:xfrm>
            <a:off x="9720072" y="4736592"/>
            <a:ext cx="493776" cy="49377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20072" y="4841748"/>
            <a:ext cx="493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E8A33D"/>
                </a:solidFill>
                <a:latin typeface="Segoe UI Semibold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427024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1C2B36"/>
                </a:solidFill>
                <a:latin typeface="Segoe UI Semibold"/>
              </a:rPr>
              <a:t>Government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5330952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Second draft + Summary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for Policymakers</a:t>
            </a:r>
          </a:p>
        </p:txBody>
      </p:sp>
      <p:sp>
        <p:nvSpPr>
          <p:cNvPr id="37" name="Oval 36"/>
          <p:cNvSpPr/>
          <p:nvPr/>
        </p:nvSpPr>
        <p:spPr>
          <a:xfrm>
            <a:off x="7616952" y="4736592"/>
            <a:ext cx="493776" cy="49377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16952" y="4841748"/>
            <a:ext cx="493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E8A33D"/>
                </a:solidFill>
                <a:latin typeface="Segoe UI Semibold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27024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1C2B36"/>
                </a:solidFill>
                <a:latin typeface="Segoe UI Semibold"/>
              </a:rPr>
              <a:t>Final draft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30952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Authors respond; final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SPM circulated</a:t>
            </a:r>
          </a:p>
        </p:txBody>
      </p:sp>
      <p:sp>
        <p:nvSpPr>
          <p:cNvPr id="41" name="Oval 40"/>
          <p:cNvSpPr/>
          <p:nvPr/>
        </p:nvSpPr>
        <p:spPr>
          <a:xfrm>
            <a:off x="5513831" y="4736592"/>
            <a:ext cx="493776" cy="49377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13831" y="4841748"/>
            <a:ext cx="493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E9E6B"/>
                </a:solidFill>
                <a:latin typeface="Segoe UI Semibold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79" y="427024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1C2B36"/>
                </a:solidFill>
                <a:latin typeface="Segoe UI Semibold"/>
              </a:rPr>
              <a:t>Endorsement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79" y="5330952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Plenary approves the SPM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line by line</a:t>
            </a:r>
          </a:p>
        </p:txBody>
      </p:sp>
      <p:sp>
        <p:nvSpPr>
          <p:cNvPr id="45" name="Oval 44"/>
          <p:cNvSpPr/>
          <p:nvPr/>
        </p:nvSpPr>
        <p:spPr>
          <a:xfrm>
            <a:off x="3410712" y="4736592"/>
            <a:ext cx="493776" cy="49377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410712" y="4841748"/>
            <a:ext cx="493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E9E6B"/>
                </a:solidFill>
                <a:latin typeface="Segoe UI Semibold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427024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1C2B36"/>
                </a:solidFill>
                <a:latin typeface="Segoe UI Semibold"/>
              </a:rPr>
              <a:t>Publication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51760" y="5330952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Report, comments and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responses released</a:t>
            </a:r>
          </a:p>
        </p:txBody>
      </p:sp>
      <p:sp>
        <p:nvSpPr>
          <p:cNvPr id="49" name="Oval 48"/>
          <p:cNvSpPr/>
          <p:nvPr/>
        </p:nvSpPr>
        <p:spPr>
          <a:xfrm>
            <a:off x="1307592" y="4736592"/>
            <a:ext cx="493776" cy="49377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8B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307592" y="4841748"/>
            <a:ext cx="493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8B6FB8"/>
                </a:solidFill>
                <a:latin typeface="Segoe UI Semibold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39" y="427024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1C2B36"/>
                </a:solidFill>
                <a:latin typeface="Segoe UI Semibold"/>
              </a:rPr>
              <a:t>Synthesis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39" y="5330952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Working Groups integrated;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B6B79"/>
                </a:solidFill>
                <a:latin typeface="Segoe UI"/>
              </a:rPr>
              <a:t>next cycle begins</a:t>
            </a:r>
          </a:p>
        </p:txBody>
      </p:sp>
      <p:sp>
        <p:nvSpPr>
          <p:cNvPr id="53" name="Circular Arrow 52"/>
          <p:cNvSpPr/>
          <p:nvPr/>
        </p:nvSpPr>
        <p:spPr>
          <a:xfrm>
            <a:off x="566928" y="4745736"/>
            <a:ext cx="475488" cy="475488"/>
          </a:xfrm>
          <a:prstGeom prst="circularArrow">
            <a:avLst/>
          </a:prstGeom>
          <a:solidFill>
            <a:srgbClr val="8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874519" y="5989320"/>
            <a:ext cx="128016" cy="128016"/>
          </a:xfrm>
          <a:prstGeom prst="ellipse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075688" y="5943600"/>
            <a:ext cx="71140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spc="60">
                <a:solidFill>
                  <a:srgbClr val="5B6B79"/>
                </a:solidFill>
                <a:latin typeface="Segoe UI"/>
              </a:rPr>
              <a:t>DEFINE</a:t>
            </a:r>
          </a:p>
        </p:txBody>
      </p:sp>
      <p:sp>
        <p:nvSpPr>
          <p:cNvPr id="56" name="Oval 55"/>
          <p:cNvSpPr/>
          <p:nvPr/>
        </p:nvSpPr>
        <p:spPr>
          <a:xfrm>
            <a:off x="3088843" y="5989320"/>
            <a:ext cx="128016" cy="128016"/>
          </a:xfrm>
          <a:prstGeom prst="ellipse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290011" y="5943600"/>
            <a:ext cx="139171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spc="60">
                <a:solidFill>
                  <a:srgbClr val="5B6B79"/>
                </a:solidFill>
                <a:latin typeface="Segoe UI"/>
              </a:rPr>
              <a:t>ASSESS &amp; DRAFT</a:t>
            </a:r>
          </a:p>
        </p:txBody>
      </p:sp>
      <p:sp>
        <p:nvSpPr>
          <p:cNvPr id="58" name="Oval 57"/>
          <p:cNvSpPr/>
          <p:nvPr/>
        </p:nvSpPr>
        <p:spPr>
          <a:xfrm>
            <a:off x="4983480" y="5989320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184648" y="5943600"/>
            <a:ext cx="147675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spc="60">
                <a:solidFill>
                  <a:srgbClr val="5B6B79"/>
                </a:solidFill>
                <a:latin typeface="Segoe UI"/>
              </a:rPr>
              <a:t>REVIEW &amp; REFINE</a:t>
            </a:r>
          </a:p>
        </p:txBody>
      </p:sp>
      <p:sp>
        <p:nvSpPr>
          <p:cNvPr id="60" name="Oval 59"/>
          <p:cNvSpPr/>
          <p:nvPr/>
        </p:nvSpPr>
        <p:spPr>
          <a:xfrm>
            <a:off x="6963156" y="5989320"/>
            <a:ext cx="128016" cy="128016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164324" y="5943600"/>
            <a:ext cx="164683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spc="60">
                <a:solidFill>
                  <a:srgbClr val="5B6B79"/>
                </a:solidFill>
                <a:latin typeface="Segoe UI"/>
              </a:rPr>
              <a:t>APPROVE &amp; PUBLISH</a:t>
            </a:r>
          </a:p>
        </p:txBody>
      </p:sp>
      <p:sp>
        <p:nvSpPr>
          <p:cNvPr id="62" name="Oval 61"/>
          <p:cNvSpPr/>
          <p:nvPr/>
        </p:nvSpPr>
        <p:spPr>
          <a:xfrm>
            <a:off x="9112910" y="5989320"/>
            <a:ext cx="128016" cy="128016"/>
          </a:xfrm>
          <a:prstGeom prst="ellipse">
            <a:avLst/>
          </a:prstGeom>
          <a:solidFill>
            <a:srgbClr val="8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314078" y="5943600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spc="60">
                <a:solidFill>
                  <a:srgbClr val="5B6B79"/>
                </a:solidFill>
                <a:latin typeface="Segoe UI"/>
              </a:rPr>
              <a:t>SYNTHESIZE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DE4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4864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AA7B2"/>
                </a:solidFill>
                <a:latin typeface="Segoe UI"/>
              </a:rPr>
              <a:t>Sources: IPCC — Preparing Reports (ipcc.ch/about/preparingreports) · IPCC procedures (ipcc.ch/documentation/procedures) · IPCC Review Process factsheet,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C2B36"/>
                </a:solidFill>
                <a:latin typeface="Segoe UI Semibold"/>
              </a:rPr>
              <a:t>One assistant, five ways to work with climate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dirty="0">
                <a:solidFill>
                  <a:srgbClr val="5B6B79"/>
                </a:solidFill>
                <a:latin typeface="Segoe UI"/>
              </a:rPr>
              <a:t>Every workflow runs through the same conversation </a:t>
            </a:r>
            <a:r>
              <a:rPr lang="en-US" sz="1250" b="0" dirty="0">
                <a:solidFill>
                  <a:srgbClr val="5B6B79"/>
                </a:solidFill>
                <a:latin typeface="Segoe UI"/>
              </a:rPr>
              <a:t>-</a:t>
            </a:r>
            <a:r>
              <a:rPr sz="1250" b="0" dirty="0">
                <a:solidFill>
                  <a:srgbClr val="5B6B79"/>
                </a:solidFill>
                <a:latin typeface="Segoe UI"/>
              </a:rPr>
              <a:t> no tooling change, no training curve.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6096304" y="2727655"/>
            <a:ext cx="0" cy="1387145"/>
          </a:xfrm>
          <a:prstGeom prst="line">
            <a:avLst/>
          </a:prstGeom>
          <a:ln w="15240">
            <a:solidFill>
              <a:srgbClr val="C9D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4487459" y="3686148"/>
            <a:ext cx="1608845" cy="428652"/>
          </a:xfrm>
          <a:prstGeom prst="line">
            <a:avLst/>
          </a:prstGeom>
          <a:ln w="15240">
            <a:solidFill>
              <a:srgbClr val="C9D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5101983" y="4114800"/>
            <a:ext cx="994321" cy="1122223"/>
          </a:xfrm>
          <a:prstGeom prst="line">
            <a:avLst/>
          </a:prstGeom>
          <a:ln w="15240">
            <a:solidFill>
              <a:srgbClr val="C9D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6304" y="4114800"/>
            <a:ext cx="994321" cy="1122223"/>
          </a:xfrm>
          <a:prstGeom prst="line">
            <a:avLst/>
          </a:prstGeom>
          <a:ln w="15240">
            <a:solidFill>
              <a:srgbClr val="C9D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096304" y="3686148"/>
            <a:ext cx="1608846" cy="428652"/>
          </a:xfrm>
          <a:prstGeom prst="line">
            <a:avLst/>
          </a:prstGeom>
          <a:ln w="15240">
            <a:solidFill>
              <a:srgbClr val="C9D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529376" y="2160727"/>
            <a:ext cx="1133856" cy="1133856"/>
          </a:xfrm>
          <a:prstGeom prst="ellipse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29376" y="2581351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 Semibold"/>
              </a:rPr>
              <a:t>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9536" y="2471623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Semantic search with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sourced answers</a:t>
            </a:r>
          </a:p>
        </p:txBody>
      </p:sp>
      <p:sp>
        <p:nvSpPr>
          <p:cNvPr id="16" name="Oval 15"/>
          <p:cNvSpPr/>
          <p:nvPr/>
        </p:nvSpPr>
        <p:spPr>
          <a:xfrm>
            <a:off x="3920531" y="3119220"/>
            <a:ext cx="1133856" cy="1133856"/>
          </a:xfrm>
          <a:prstGeom prst="ellipse">
            <a:avLst/>
          </a:prstGeom>
          <a:solidFill>
            <a:srgbClr val="5B8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20531" y="353984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 Semibold"/>
              </a:rPr>
              <a:t>Browse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8550" y="3102137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Open or download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the original PDFs</a:t>
            </a:r>
          </a:p>
        </p:txBody>
      </p:sp>
      <p:sp>
        <p:nvSpPr>
          <p:cNvPr id="19" name="Oval 18"/>
          <p:cNvSpPr/>
          <p:nvPr/>
        </p:nvSpPr>
        <p:spPr>
          <a:xfrm>
            <a:off x="4535055" y="4670095"/>
            <a:ext cx="1133856" cy="1133856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35055" y="5090719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 Semibold"/>
              </a:rPr>
              <a:t>Summarize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337" y="5773486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Report-level summaries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on demand</a:t>
            </a:r>
          </a:p>
        </p:txBody>
      </p:sp>
      <p:sp>
        <p:nvSpPr>
          <p:cNvPr id="22" name="Oval 21"/>
          <p:cNvSpPr/>
          <p:nvPr/>
        </p:nvSpPr>
        <p:spPr>
          <a:xfrm>
            <a:off x="6523697" y="4670095"/>
            <a:ext cx="1133856" cy="113385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23697" y="5090719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 Semibold"/>
              </a:rPr>
              <a:t>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2392" y="5773486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Critique and assess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documents</a:t>
            </a:r>
          </a:p>
        </p:txBody>
      </p:sp>
      <p:sp>
        <p:nvSpPr>
          <p:cNvPr id="25" name="Oval 24"/>
          <p:cNvSpPr/>
          <p:nvPr/>
        </p:nvSpPr>
        <p:spPr>
          <a:xfrm>
            <a:off x="7138222" y="3119220"/>
            <a:ext cx="1133856" cy="1133856"/>
          </a:xfrm>
          <a:prstGeom prst="ellipse">
            <a:avLst/>
          </a:prstGeom>
          <a:solidFill>
            <a:srgbClr val="8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8222" y="353984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 Semibold"/>
              </a:rPr>
              <a:t>Improve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5179" y="3102137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Suggest clearer,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B6B79"/>
                </a:solidFill>
                <a:latin typeface="Segoe UI"/>
              </a:rPr>
              <a:t>stronger content</a:t>
            </a:r>
          </a:p>
        </p:txBody>
      </p:sp>
      <p:sp>
        <p:nvSpPr>
          <p:cNvPr id="28" name="Oval 27"/>
          <p:cNvSpPr/>
          <p:nvPr/>
        </p:nvSpPr>
        <p:spPr>
          <a:xfrm>
            <a:off x="5227624" y="3246120"/>
            <a:ext cx="1737360" cy="1737360"/>
          </a:xfrm>
          <a:prstGeom prst="ellipse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145328" y="3163824"/>
            <a:ext cx="1901952" cy="1901952"/>
          </a:xfrm>
          <a:prstGeom prst="ellipse">
            <a:avLst/>
          </a:prstGeom>
          <a:noFill/>
          <a:ln w="12700">
            <a:solidFill>
              <a:srgbClr val="0B2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12080" y="3919043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Segoe UI Semibold"/>
              </a:rPr>
              <a:t>IPCC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3999" y="4179019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rgbClr val="A8C4D8"/>
                </a:solidFill>
                <a:latin typeface="Segoe UI"/>
              </a:rPr>
              <a:t>Assistant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DE4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AA7B2"/>
                </a:solidFill>
                <a:latin typeface="Segoe UI"/>
              </a:rPr>
              <a:t>Research journey: Discover → Understand → Verify → Communicate   ·   Python services on Cloud Run   ·   Intelligence: Vertex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411480"/>
            <a:ext cx="104241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B233A"/>
                </a:solidFill>
                <a:latin typeface="Aptos"/>
              </a:rPr>
              <a:t>End-to-end RAG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68A7"/>
                </a:solidFill>
                <a:latin typeface="Aptos"/>
              </a:rPr>
              <a:t>How a user question becomes an evidence-based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C68A7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783080" cy="2148840"/>
          </a:xfrm>
          <a:prstGeom prst="roundRect">
            <a:avLst/>
          </a:prstGeom>
          <a:solidFill>
            <a:srgbClr val="F1F7FA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61288" y="1325880"/>
            <a:ext cx="640080" cy="640080"/>
          </a:xfrm>
          <a:prstGeom prst="round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61288" y="143560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B233A"/>
                </a:solidFill>
                <a:latin typeface="Aptos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333E"/>
                </a:solidFill>
                <a:latin typeface="Aptos"/>
              </a:rPr>
              <a:t>User asks a climate question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04872" y="2880360"/>
            <a:ext cx="457200" cy="0"/>
          </a:xfrm>
          <a:prstGeom prst="line">
            <a:avLst/>
          </a:prstGeom>
          <a:ln w="31750">
            <a:solidFill>
              <a:srgbClr val="009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26079" y="1828800"/>
            <a:ext cx="1783080" cy="2148840"/>
          </a:xfrm>
          <a:prstGeom prst="roundRect">
            <a:avLst/>
          </a:prstGeom>
          <a:solidFill>
            <a:srgbClr val="F1F7FA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93008" y="1325880"/>
            <a:ext cx="640080" cy="640080"/>
          </a:xfrm>
          <a:prstGeom prst="round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93008" y="143560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39" y="214884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B233A"/>
                </a:solidFill>
                <a:latin typeface="Aptos"/>
              </a:rPr>
              <a:t>Embed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651760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333E"/>
                </a:solidFill>
                <a:latin typeface="Aptos"/>
              </a:rPr>
              <a:t>Vertex AI converts question to vector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36592" y="2880360"/>
            <a:ext cx="457200" cy="0"/>
          </a:xfrm>
          <a:prstGeom prst="line">
            <a:avLst/>
          </a:prstGeom>
          <a:ln w="31750">
            <a:solidFill>
              <a:srgbClr val="009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57800" y="1828800"/>
            <a:ext cx="1783080" cy="2148840"/>
          </a:xfrm>
          <a:prstGeom prst="roundRect">
            <a:avLst/>
          </a:prstGeom>
          <a:solidFill>
            <a:srgbClr val="F1F7FA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824728" y="1325880"/>
            <a:ext cx="640080" cy="640080"/>
          </a:xfrm>
          <a:prstGeom prst="round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24728" y="143560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14884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B233A"/>
                </a:solidFill>
                <a:latin typeface="Aptos"/>
              </a:rPr>
              <a:t>Retrieve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2651760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333E"/>
                </a:solidFill>
                <a:latin typeface="Aptos"/>
              </a:rPr>
              <a:t>BigQuery returns closest chunks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68312" y="2880360"/>
            <a:ext cx="457200" cy="0"/>
          </a:xfrm>
          <a:prstGeom prst="line">
            <a:avLst/>
          </a:prstGeom>
          <a:ln w="31750">
            <a:solidFill>
              <a:srgbClr val="009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89519" y="1828800"/>
            <a:ext cx="1783080" cy="2148840"/>
          </a:xfrm>
          <a:prstGeom prst="roundRect">
            <a:avLst/>
          </a:prstGeom>
          <a:solidFill>
            <a:srgbClr val="F1F7FA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156447" y="1325880"/>
            <a:ext cx="640080" cy="640080"/>
          </a:xfrm>
          <a:prstGeom prst="round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56447" y="143560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214884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B233A"/>
                </a:solidFill>
                <a:latin typeface="Aptos"/>
              </a:rPr>
              <a:t>Generate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399" y="2651760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333E"/>
                </a:solidFill>
                <a:latin typeface="Aptos"/>
              </a:rPr>
              <a:t>Gemini writes the response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00032" y="2880360"/>
            <a:ext cx="457200" cy="0"/>
          </a:xfrm>
          <a:prstGeom prst="line">
            <a:avLst/>
          </a:prstGeom>
          <a:ln w="31750">
            <a:solidFill>
              <a:srgbClr val="009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921240" y="1828800"/>
            <a:ext cx="1783080" cy="2148840"/>
          </a:xfrm>
          <a:prstGeom prst="roundRect">
            <a:avLst/>
          </a:prstGeom>
          <a:solidFill>
            <a:srgbClr val="F1F7FA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88167" y="1325880"/>
            <a:ext cx="640080" cy="640080"/>
          </a:xfrm>
          <a:prstGeom prst="round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88167" y="143560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14884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B233A"/>
                </a:solidFill>
                <a:latin typeface="Aptos"/>
              </a:rPr>
              <a:t>Cite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19" y="2651760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333E"/>
                </a:solidFill>
                <a:latin typeface="Aptos"/>
              </a:rPr>
              <a:t>UI displays answer + sources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9377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0938B"/>
                </a:solidFill>
                <a:latin typeface="Aptos"/>
              </a:rPr>
              <a:t>Retrieval grounds the answer in IPCC content and reduces unsupported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411480"/>
            <a:ext cx="104241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B233A"/>
                </a:solidFill>
                <a:latin typeface="Aptos"/>
              </a:rPr>
              <a:t>GCP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68A7"/>
                </a:solidFill>
                <a:latin typeface="Aptos"/>
              </a:rPr>
              <a:t>Managed services separate storage, retrieval, intelligence and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C68A7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1737360" cy="777240"/>
          </a:xfrm>
          <a:prstGeom prst="roundRect">
            <a:avLst/>
          </a:prstGeom>
          <a:solidFill>
            <a:srgbClr val="1C68A7"/>
          </a:solidFill>
          <a:ln>
            <a:solidFill>
              <a:srgbClr val="1C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258568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IPCC PDFs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148840"/>
            <a:ext cx="1737360" cy="777240"/>
          </a:xfrm>
          <a:prstGeom prst="round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34640" y="2258568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Cloud 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508760"/>
            <a:ext cx="1737360" cy="777240"/>
          </a:xfrm>
          <a:prstGeom prst="roundRect">
            <a:avLst/>
          </a:prstGeom>
          <a:solidFill>
            <a:srgbClr val="E8A937"/>
          </a:solidFill>
          <a:ln>
            <a:solidFill>
              <a:srgbClr val="E8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83479" y="1618488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BigQuery
Documents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2880360"/>
            <a:ext cx="1737360" cy="777240"/>
          </a:xfrm>
          <a:prstGeom prst="roundRect">
            <a:avLst/>
          </a:prstGeom>
          <a:solidFill>
            <a:srgbClr val="4B9155"/>
          </a:solidFill>
          <a:ln>
            <a:solidFill>
              <a:srgbClr val="4B9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83479" y="2990088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BigQuery
Vector 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508760"/>
            <a:ext cx="1737360" cy="777240"/>
          </a:xfrm>
          <a:prstGeom prst="roundRect">
            <a:avLst/>
          </a:prstGeom>
          <a:solidFill>
            <a:srgbClr val="1C68A7"/>
          </a:solidFill>
          <a:ln>
            <a:solidFill>
              <a:srgbClr val="1C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1618488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Vertex AI
Embeddings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880360"/>
            <a:ext cx="1737360" cy="777240"/>
          </a:xfrm>
          <a:prstGeom prst="roundRect">
            <a:avLst/>
          </a:prstGeom>
          <a:solidFill>
            <a:srgbClr val="C24A4A"/>
          </a:solidFill>
          <a:ln>
            <a:solidFill>
              <a:srgbClr val="C2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2990088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Gemini
3 Flash Preview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2148840"/>
            <a:ext cx="1737360" cy="777240"/>
          </a:xfrm>
          <a:prstGeom prst="roundRect">
            <a:avLst/>
          </a:prstGeom>
          <a:solidFill>
            <a:srgbClr val="0B233A"/>
          </a:solidFill>
          <a:ln>
            <a:solidFill>
              <a:srgbClr val="0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38360" y="2258568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Cloud Run
Application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23160" y="2542032"/>
            <a:ext cx="320040" cy="0"/>
          </a:xfrm>
          <a:prstGeom prst="line">
            <a:avLst/>
          </a:prstGeom>
          <a:ln w="31750">
            <a:solidFill>
              <a:srgbClr val="009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480560" y="1901952"/>
            <a:ext cx="411480" cy="640080"/>
          </a:xfrm>
          <a:prstGeom prst="line">
            <a:avLst/>
          </a:prstGeom>
          <a:ln w="31750">
            <a:solidFill>
              <a:srgbClr val="009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80560" y="2542032"/>
            <a:ext cx="411480" cy="731520"/>
          </a:xfrm>
          <a:prstGeom prst="line">
            <a:avLst/>
          </a:prstGeom>
          <a:ln w="31750">
            <a:solidFill>
              <a:srgbClr val="009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629400" y="1901952"/>
            <a:ext cx="685800" cy="0"/>
          </a:xfrm>
          <a:prstGeom prst="line">
            <a:avLst/>
          </a:prstGeom>
          <a:ln w="31750">
            <a:solidFill>
              <a:srgbClr val="009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629400" y="3273552"/>
            <a:ext cx="685800" cy="0"/>
          </a:xfrm>
          <a:prstGeom prst="line">
            <a:avLst/>
          </a:prstGeom>
          <a:ln w="31750">
            <a:solidFill>
              <a:srgbClr val="009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1901952"/>
            <a:ext cx="594360" cy="640080"/>
          </a:xfrm>
          <a:prstGeom prst="line">
            <a:avLst/>
          </a:prstGeom>
          <a:ln w="31750">
            <a:solidFill>
              <a:srgbClr val="009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052560" y="2542032"/>
            <a:ext cx="594360" cy="731520"/>
          </a:xfrm>
          <a:prstGeom prst="line">
            <a:avLst/>
          </a:prstGeom>
          <a:ln w="31750">
            <a:solidFill>
              <a:srgbClr val="009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489204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B233A"/>
                </a:solidFill>
                <a:latin typeface="Aptos"/>
              </a:rPr>
              <a:t>Offline pipeline: upload → extract/chunk → embed → index.   Online path: question → retrieve top-k chunks → generate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C2B36"/>
                </a:solidFill>
                <a:latin typeface="Segoe UI Semibold"/>
              </a:rPr>
              <a:t>A three-layer platform: knowledge, intelligence,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dirty="0">
                <a:solidFill>
                  <a:srgbClr val="5B6B79"/>
                </a:solidFill>
                <a:latin typeface="Segoe UI"/>
              </a:rPr>
              <a:t>Managed GCP services separate storage, retrieval, reasoning and presentation nothing to patch, everything scales.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3080" y="1810512"/>
            <a:ext cx="8732520" cy="1115568"/>
          </a:xfrm>
          <a:prstGeom prst="roundRect">
            <a:avLst>
              <a:gd name="adj" fmla="val 7000"/>
            </a:avLst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92938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60">
                <a:solidFill>
                  <a:srgbClr val="0B2E4F"/>
                </a:solidFill>
                <a:latin typeface="Segoe UI"/>
              </a:rPr>
              <a:t>EXPERIENCE  —  WHERE PEOPLE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103120"/>
            <a:ext cx="429768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123944" y="2327148"/>
            <a:ext cx="256032" cy="256032"/>
          </a:xfrm>
          <a:prstGeom prst="ellipse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2286333"/>
            <a:ext cx="3675888" cy="315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dirty="0">
                <a:solidFill>
                  <a:srgbClr val="1C2B36"/>
                </a:solidFill>
                <a:latin typeface="Segoe UI Semibold"/>
              </a:rPr>
              <a:t>Cloud Run </a:t>
            </a:r>
          </a:p>
          <a:p>
            <a:pPr algn="l">
              <a:lnSpc>
                <a:spcPct val="100000"/>
              </a:lnSpc>
            </a:pPr>
            <a:r>
              <a:rPr sz="900" b="0" dirty="0">
                <a:solidFill>
                  <a:srgbClr val="5B6B79"/>
                </a:solidFill>
                <a:latin typeface="Segoe UI"/>
              </a:rPr>
              <a:t>Public endpoint · 1 warm instance · 100% traffic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83080" y="3127248"/>
            <a:ext cx="8732520" cy="1371600"/>
          </a:xfrm>
          <a:prstGeom prst="roundRect">
            <a:avLst>
              <a:gd name="adj" fmla="val 7000"/>
            </a:avLst>
          </a:prstGeom>
          <a:solidFill>
            <a:srgbClr val="E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11680" y="324612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60" dirty="0">
                <a:solidFill>
                  <a:srgbClr val="0A6376"/>
                </a:solidFill>
                <a:latin typeface="Segoe UI"/>
              </a:rPr>
              <a:t>INTELLIGENCE  —  WHERE MEANING IS MADE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3566160"/>
            <a:ext cx="260604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432304" y="3790187"/>
            <a:ext cx="256032" cy="256032"/>
          </a:xfrm>
          <a:prstGeom prst="ellipse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98064" y="3749372"/>
            <a:ext cx="198424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dirty="0">
                <a:solidFill>
                  <a:srgbClr val="1C2B36"/>
                </a:solidFill>
                <a:latin typeface="Segoe UI Semibold"/>
              </a:rPr>
              <a:t>Vertex AI Embeddings</a:t>
            </a:r>
          </a:p>
          <a:p>
            <a:pPr algn="l">
              <a:lnSpc>
                <a:spcPct val="100000"/>
              </a:lnSpc>
            </a:pPr>
            <a:r>
              <a:rPr sz="900" b="0" dirty="0">
                <a:solidFill>
                  <a:srgbClr val="5B6B79"/>
                </a:solidFill>
                <a:latin typeface="Segoe UI"/>
              </a:rPr>
              <a:t>text-embedding-005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3566160"/>
            <a:ext cx="260604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221224" y="3790187"/>
            <a:ext cx="256032" cy="256032"/>
          </a:xfrm>
          <a:prstGeom prst="ellipse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86983" y="3749372"/>
            <a:ext cx="198424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2B36"/>
                </a:solidFill>
                <a:latin typeface="Segoe UI Semibold"/>
              </a:rPr>
              <a:t>BigQuery Vector Search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B79"/>
                </a:solidFill>
                <a:latin typeface="Segoe UI"/>
              </a:rPr>
              <a:t>top-k semantic retrieval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3566160"/>
            <a:ext cx="246888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10144" y="3790187"/>
            <a:ext cx="256032" cy="25603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75904" y="3749372"/>
            <a:ext cx="1847088" cy="315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dirty="0">
                <a:solidFill>
                  <a:srgbClr val="1C2B36"/>
                </a:solidFill>
                <a:latin typeface="Segoe UI Semibold"/>
              </a:rPr>
              <a:t>Gemini 3</a:t>
            </a:r>
            <a:r>
              <a:rPr lang="en-US" sz="1150" b="1" dirty="0">
                <a:solidFill>
                  <a:srgbClr val="1C2B36"/>
                </a:solidFill>
                <a:latin typeface="Segoe UI Semibold"/>
              </a:rPr>
              <a:t>.6</a:t>
            </a:r>
            <a:r>
              <a:rPr sz="1150" b="1" dirty="0">
                <a:solidFill>
                  <a:srgbClr val="1C2B36"/>
                </a:solidFill>
                <a:latin typeface="Segoe UI Semibold"/>
              </a:rPr>
              <a:t> Flash</a:t>
            </a:r>
          </a:p>
          <a:p>
            <a:pPr algn="l">
              <a:lnSpc>
                <a:spcPct val="100000"/>
              </a:lnSpc>
            </a:pPr>
            <a:r>
              <a:rPr sz="900" b="0" dirty="0">
                <a:solidFill>
                  <a:srgbClr val="5B6B79"/>
                </a:solidFill>
                <a:latin typeface="Segoe UI"/>
              </a:rPr>
              <a:t>grounded generation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83080" y="4700016"/>
            <a:ext cx="8732520" cy="1234440"/>
          </a:xfrm>
          <a:prstGeom prst="roundRect">
            <a:avLst>
              <a:gd name="adj" fmla="val 7000"/>
            </a:avLst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11680" y="481888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60">
                <a:solidFill>
                  <a:srgbClr val="A56E1B"/>
                </a:solidFill>
                <a:latin typeface="Segoe UI"/>
              </a:rPr>
              <a:t>KNOWLEDGE  —  WHERE EVIDENCE LIVES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5074920"/>
            <a:ext cx="301752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163824" y="5298948"/>
            <a:ext cx="256032" cy="25603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29584" y="5258133"/>
            <a:ext cx="239572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2B36"/>
                </a:solidFill>
                <a:latin typeface="Segoe UI Semibold"/>
              </a:rPr>
              <a:t>Cloud Storage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B79"/>
                </a:solidFill>
                <a:latin typeface="Segoe UI"/>
              </a:rPr>
              <a:t>8 IPCC PDF reports · ≈73 MiB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5074920"/>
            <a:ext cx="301752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547104" y="5298948"/>
            <a:ext cx="256032" cy="25603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12864" y="5258133"/>
            <a:ext cx="239572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2B36"/>
                </a:solidFill>
                <a:latin typeface="Segoe UI Semibold"/>
              </a:rPr>
              <a:t>BigQuery documents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B79"/>
                </a:solidFill>
                <a:latin typeface="Segoe UI"/>
              </a:rPr>
              <a:t>10,184 extracted passages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325880" y="1965960"/>
            <a:ext cx="0" cy="384048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 rot="16200000">
            <a:off x="-566928" y="3703320"/>
            <a:ext cx="374903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1" spc="60">
                <a:solidFill>
                  <a:srgbClr val="A56E1B"/>
                </a:solidFill>
                <a:latin typeface="Segoe UI"/>
              </a:rPr>
              <a:t>KNOWLEDGE PIPELINE (OFFLINE) · UPLOAD → CHUNK → EMBED → INDEX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927080" y="1965960"/>
            <a:ext cx="0" cy="3840480"/>
          </a:xfrm>
          <a:prstGeom prst="line">
            <a:avLst/>
          </a:prstGeom>
          <a:ln w="25400">
            <a:solidFill>
              <a:srgbClr val="0C7B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 rot="5400000">
            <a:off x="9464040" y="3703320"/>
            <a:ext cx="374903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1" spc="60">
                <a:solidFill>
                  <a:srgbClr val="0A6376"/>
                </a:solidFill>
                <a:latin typeface="Segoe UI"/>
              </a:rPr>
              <a:t>QUESTION JOURNEY (LIVE) · ASK → RETRIEVE → ANSWER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310896" cy="5029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47548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60">
                <a:solidFill>
                  <a:srgbClr val="2E9E6B"/>
                </a:solidFill>
                <a:latin typeface="Segoe UI"/>
              </a:rPr>
              <a:t>WHERE IT STANDS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C2B36"/>
                </a:solidFill>
                <a:latin typeface="Segoe UI Semibold"/>
              </a:rPr>
              <a:t>Live and verified in project ai-ippc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dirty="0">
                <a:solidFill>
                  <a:srgbClr val="5B6B79"/>
                </a:solidFill>
                <a:latin typeface="Segoe UI"/>
              </a:rPr>
              <a:t>Every figure below was read from the deployed environment </a:t>
            </a:r>
            <a:r>
              <a:rPr lang="en-US" sz="1250" b="0" dirty="0">
                <a:solidFill>
                  <a:srgbClr val="5B6B79"/>
                </a:solidFill>
                <a:latin typeface="Segoe UI"/>
              </a:rPr>
              <a:t>-</a:t>
            </a:r>
            <a:r>
              <a:rPr sz="1250" b="0" dirty="0">
                <a:solidFill>
                  <a:srgbClr val="5B6B79"/>
                </a:solidFill>
                <a:latin typeface="Segoe UI"/>
              </a:rPr>
              <a:t> not from a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20" y="566928"/>
            <a:ext cx="2450592" cy="475488"/>
          </a:xfrm>
          <a:prstGeom prst="roundRect">
            <a:avLst>
              <a:gd name="adj" fmla="val 50000"/>
            </a:avLst>
          </a:prstGeom>
          <a:solidFill>
            <a:srgbClr val="DD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400032" y="722376"/>
            <a:ext cx="164592" cy="16459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46920" y="714123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spc="60" dirty="0">
                <a:solidFill>
                  <a:srgbClr val="1E7A52"/>
                </a:solidFill>
                <a:latin typeface="Segoe UI"/>
              </a:rPr>
              <a:t>LIVE — HTTP 200 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74519"/>
            <a:ext cx="2743200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2743200" cy="8229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2148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60">
                <a:solidFill>
                  <a:srgbClr val="9AA7B2"/>
                </a:solidFill>
                <a:latin typeface="Segoe UI"/>
              </a:rPr>
              <a:t>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450592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B2E4F"/>
                </a:solidFill>
                <a:latin typeface="Segoe UI Semibold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12724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C2B36"/>
                </a:solidFill>
                <a:latin typeface="Segoe UI"/>
              </a:rPr>
              <a:t>traffic on latest revision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5204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Cloud Run · ipcc-ai-project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83133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Revision 00007-lfs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1422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1 always-warm instance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65576" y="1874519"/>
            <a:ext cx="2743200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465576" y="1874519"/>
            <a:ext cx="2743200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39896" y="2148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60">
                <a:solidFill>
                  <a:srgbClr val="9AA7B2"/>
                </a:solidFill>
                <a:latin typeface="Segoe UI"/>
              </a:rPr>
              <a:t>CORPUS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9896" y="2450592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E8A33D"/>
                </a:solidFill>
                <a:latin typeface="Segoe UI Semibold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9896" y="312724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C2B36"/>
                </a:solidFill>
                <a:latin typeface="Segoe UI"/>
              </a:rPr>
              <a:t>IPCC reports online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9896" y="35204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Cloud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9896" y="383133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ipcc-srcities-bucket-1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9896" y="41422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≈73 MiB of source PDFs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82512" y="1874519"/>
            <a:ext cx="2743200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82512" y="1874519"/>
            <a:ext cx="2743200" cy="82296"/>
          </a:xfrm>
          <a:prstGeom prst="rect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56832" y="2148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60">
                <a:solidFill>
                  <a:srgbClr val="9AA7B2"/>
                </a:solidFill>
                <a:latin typeface="Segoe UI"/>
              </a:rPr>
              <a:t>INDEX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2450592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C7B93"/>
                </a:solidFill>
                <a:latin typeface="Segoe UI Semibold"/>
              </a:rPr>
              <a:t>10,184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312724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C2B36"/>
                </a:solidFill>
                <a:latin typeface="Segoe UI"/>
              </a:rPr>
              <a:t>passages embedded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35204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BigQuery · climate_ai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383133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documents = embeddings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6832" y="41422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full corpus coverage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99448" y="1874519"/>
            <a:ext cx="2743200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299448" y="1874519"/>
            <a:ext cx="2743200" cy="8229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73768" y="2148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60">
                <a:solidFill>
                  <a:srgbClr val="9AA7B2"/>
                </a:solidFill>
                <a:latin typeface="Segoe UI"/>
              </a:rPr>
              <a:t>MODELS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3768" y="2450592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E9E6B"/>
                </a:solidFill>
                <a:latin typeface="Segoe UI Semibold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73768" y="312724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C2B36"/>
                </a:solidFill>
                <a:latin typeface="Segoe UI"/>
              </a:rPr>
              <a:t>Vertex AI models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73768" y="35204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Gemini 3 Flash (preview)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73768" y="383133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text-embedding-005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41422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B6B79"/>
                </a:solidFill>
                <a:latin typeface="Segoe UI"/>
              </a:rPr>
              <a:t>Region us-central1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120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spc="120">
                <a:solidFill>
                  <a:srgbClr val="9AA7B2"/>
                </a:solidFill>
                <a:latin typeface="Segoe UI"/>
              </a:rPr>
              <a:t>INDEX COVERAGE — EVERY STORED PASSAGE IS EMBEDDED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440680"/>
            <a:ext cx="8778240" cy="310896"/>
          </a:xfrm>
          <a:prstGeom prst="roundRect">
            <a:avLst>
              <a:gd name="adj" fmla="val 50000"/>
            </a:avLst>
          </a:prstGeom>
          <a:solidFill>
            <a:srgbClr val="E4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548640" y="5440680"/>
            <a:ext cx="8778240" cy="310896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509760" y="542239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E9E6B"/>
                </a:solidFill>
                <a:latin typeface="Segoe UI"/>
              </a:rPr>
              <a:t>10,184 / 10,184 · 100%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632" y="0"/>
            <a:ext cx="12191695" cy="685800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310896" cy="50292"/>
          </a:xfrm>
          <a:prstGeom prst="rect">
            <a:avLst/>
          </a:prstGeom>
          <a:solidFill>
            <a:srgbClr val="8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49779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60" dirty="0">
                <a:solidFill>
                  <a:srgbClr val="8B6FB8"/>
                </a:solidFill>
                <a:latin typeface="Segoe UI"/>
              </a:rPr>
              <a:t>FUTURE STATE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B36"/>
                </a:solidFill>
                <a:latin typeface="Segoe UI Semibold"/>
              </a:rPr>
              <a:t>An Enterprise Knowledge Fabric with reasoning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B6B79"/>
                </a:solidFill>
                <a:latin typeface="Segoe UI"/>
              </a:rPr>
              <a:t>The platform inherits the seven-layer fabric — a new ontology layer and enterprise context graph give agents shared meaning to reason over.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297681"/>
            <a:ext cx="7589520" cy="512064"/>
          </a:xfrm>
          <a:prstGeom prst="roundRect">
            <a:avLst>
              <a:gd name="adj" fmla="val 10000"/>
            </a:avLst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4430269"/>
            <a:ext cx="457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5B6B79"/>
                </a:solidFill>
                <a:latin typeface="Segoe UI"/>
              </a:rPr>
              <a:t>L</a:t>
            </a:r>
            <a:r>
              <a:rPr lang="en-US" sz="1000" b="1" dirty="0">
                <a:solidFill>
                  <a:srgbClr val="5B6B79"/>
                </a:solidFill>
                <a:latin typeface="Segoe UI"/>
              </a:rPr>
              <a:t>3</a:t>
            </a:r>
            <a:endParaRPr sz="1000" b="1" dirty="0">
              <a:solidFill>
                <a:srgbClr val="5B6B79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27048" y="4402837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B2E4F"/>
                </a:solidFill>
                <a:latin typeface="Segoe UI Semibold"/>
              </a:rPr>
              <a:t>Experience &amp;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439413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5B6B79"/>
                </a:solidFill>
                <a:latin typeface="Segoe UI"/>
              </a:rPr>
              <a:t>workspaces · APIs · identity · observability ·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009897"/>
            <a:ext cx="7589520" cy="512064"/>
          </a:xfrm>
          <a:prstGeom prst="roundRect">
            <a:avLst>
              <a:gd name="adj" fmla="val 10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2142485"/>
            <a:ext cx="457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A8C4D8"/>
                </a:solidFill>
                <a:latin typeface="Segoe UI"/>
              </a:rPr>
              <a:t>L</a:t>
            </a:r>
            <a:r>
              <a:rPr lang="en-US" sz="1000" b="1" dirty="0">
                <a:solidFill>
                  <a:srgbClr val="A8C4D8"/>
                </a:solidFill>
                <a:latin typeface="Segoe UI"/>
              </a:rPr>
              <a:t>7</a:t>
            </a:r>
            <a:endParaRPr sz="1000" b="1" dirty="0">
              <a:solidFill>
                <a:srgbClr val="A8C4D8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27048" y="2115053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Segoe UI Semibold"/>
              </a:rPr>
              <a:t>Consumption &amp; Reasoning —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51629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A8C4D8"/>
                </a:solidFill>
                <a:latin typeface="Segoe UI"/>
              </a:rPr>
              <a:t>research, synthesis, review and governance agents (Gemini)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2088" y="2142485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62088" y="2188205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spc="60">
                <a:solidFill>
                  <a:srgbClr val="FFFFFF"/>
                </a:solidFill>
                <a:latin typeface="Segoe UI"/>
              </a:rPr>
              <a:t>EVOLVED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576825"/>
            <a:ext cx="758952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8B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" y="2709413"/>
            <a:ext cx="457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5B6B79"/>
                </a:solidFill>
                <a:latin typeface="Segoe UI"/>
              </a:rPr>
              <a:t>L</a:t>
            </a:r>
            <a:r>
              <a:rPr lang="en-US" sz="1000" b="1" dirty="0">
                <a:solidFill>
                  <a:srgbClr val="5B6B79"/>
                </a:solidFill>
                <a:latin typeface="Segoe UI"/>
              </a:rPr>
              <a:t>6</a:t>
            </a:r>
            <a:endParaRPr sz="1000" b="1" dirty="0">
              <a:solidFill>
                <a:srgbClr val="5B6B79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27048" y="2681981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C2B36"/>
                </a:solidFill>
                <a:latin typeface="Segoe UI Semibold"/>
              </a:rPr>
              <a:t>Enterprise Context 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718557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5B6B79"/>
                </a:solidFill>
                <a:latin typeface="Segoe UI"/>
              </a:rPr>
              <a:t>entities, relationships and lineage linked across every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44968" y="2709413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8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44968" y="2755133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spc="60">
                <a:solidFill>
                  <a:srgbClr val="FFFFFF"/>
                </a:solidFill>
                <a:latin typeface="Segoe UI"/>
              </a:rPr>
              <a:t>NEW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3143753"/>
            <a:ext cx="758952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76341"/>
            <a:ext cx="457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5B6B79"/>
                </a:solidFill>
                <a:latin typeface="Segoe UI"/>
              </a:rPr>
              <a:t>L</a:t>
            </a:r>
            <a:r>
              <a:rPr lang="en-US" sz="1000" b="1" dirty="0">
                <a:solidFill>
                  <a:srgbClr val="5B6B79"/>
                </a:solidFill>
                <a:latin typeface="Segoe UI"/>
              </a:rPr>
              <a:t>5</a:t>
            </a:r>
            <a:endParaRPr sz="1000" b="1" dirty="0">
              <a:solidFill>
                <a:srgbClr val="5B6B79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27048" y="3248909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C2B36"/>
                </a:solidFill>
                <a:latin typeface="Segoe UI Semibold"/>
              </a:rPr>
              <a:t>Ontology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285485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5B6B79"/>
                </a:solidFill>
                <a:latin typeface="Segoe UI"/>
              </a:rPr>
              <a:t>shared climate vocabulary: hazards, sectors, regions, measures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44968" y="3276341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44968" y="3322061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spc="60">
                <a:solidFill>
                  <a:srgbClr val="FFFFFF"/>
                </a:solidFill>
                <a:latin typeface="Segoe UI"/>
              </a:rPr>
              <a:t>NEW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8013" y="3733038"/>
            <a:ext cx="7589520" cy="512064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9181" y="3865626"/>
            <a:ext cx="457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5B6B79"/>
                </a:solidFill>
                <a:latin typeface="Segoe UI"/>
              </a:rPr>
              <a:t>L</a:t>
            </a:r>
            <a:r>
              <a:rPr lang="en-US" sz="1000" b="1" dirty="0">
                <a:solidFill>
                  <a:srgbClr val="5B6B79"/>
                </a:solidFill>
                <a:latin typeface="Segoe UI"/>
              </a:rPr>
              <a:t>4</a:t>
            </a:r>
            <a:endParaRPr sz="1000" b="1" dirty="0">
              <a:solidFill>
                <a:srgbClr val="5B6B79"/>
              </a:solidFill>
              <a:latin typeface="Segoe U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516381" y="3838194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C2B36"/>
                </a:solidFill>
                <a:latin typeface="Segoe UI Semibold"/>
              </a:rPr>
              <a:t>Semantic Enrichment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2773" y="387477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5B6B79"/>
                </a:solidFill>
                <a:latin typeface="Segoe UI"/>
              </a:rPr>
              <a:t>chunking · embeddings · entity extraction (Vertex AI)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34301" y="3865626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9AA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34301" y="391134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spc="60" dirty="0">
                <a:solidFill>
                  <a:srgbClr val="1C2B36"/>
                </a:solidFill>
                <a:latin typeface="Segoe UI"/>
              </a:rPr>
              <a:t>TODAY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4846320"/>
            <a:ext cx="7589520" cy="512064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9848" y="497890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B6B79"/>
                </a:solidFill>
                <a:latin typeface="Segoe UI"/>
              </a:rPr>
              <a:t>L2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7048" y="4951476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C2B36"/>
                </a:solidFill>
                <a:latin typeface="Segoe UI Semibold"/>
              </a:rPr>
              <a:t>Storage &amp; Processing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498805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5B6B79"/>
                </a:solidFill>
                <a:latin typeface="Segoe UI"/>
              </a:rPr>
              <a:t>Cloud Storage · BigQuery · ingestion pipelines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44968" y="4978908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9AA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44968" y="502462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spc="60" dirty="0">
                <a:solidFill>
                  <a:srgbClr val="1C2B36"/>
                </a:solidFill>
                <a:latin typeface="Segoe UI"/>
              </a:rPr>
              <a:t>TODAY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" y="5413248"/>
            <a:ext cx="7589520" cy="512064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69848" y="554583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B6B79"/>
                </a:solidFill>
                <a:latin typeface="Segoe UI"/>
              </a:rPr>
              <a:t>L1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7048" y="5518404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C2B36"/>
                </a:solidFill>
                <a:latin typeface="Segoe UI Semibold"/>
              </a:rPr>
              <a:t>Sources &amp; Ingestion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55549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5B6B79"/>
                </a:solidFill>
                <a:latin typeface="Segoe UI"/>
              </a:rPr>
              <a:t>IPCC reports · grey literature · city data · multilingual corpora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44968" y="5545836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9AA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44968" y="559155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spc="60">
                <a:solidFill>
                  <a:srgbClr val="1C2B36"/>
                </a:solidFill>
                <a:latin typeface="Segoe UI"/>
              </a:rPr>
              <a:t>TODAY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476488" y="2265929"/>
            <a:ext cx="201168" cy="0"/>
          </a:xfrm>
          <a:prstGeom prst="line">
            <a:avLst/>
          </a:prstGeom>
          <a:ln w="22225">
            <a:solidFill>
              <a:srgbClr val="0C7B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677656" y="2265929"/>
            <a:ext cx="0" cy="1133856"/>
          </a:xfrm>
          <a:prstGeom prst="line">
            <a:avLst/>
          </a:prstGeom>
          <a:ln w="22225">
            <a:solidFill>
              <a:srgbClr val="0C7B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513064" y="2832857"/>
            <a:ext cx="164592" cy="0"/>
          </a:xfrm>
          <a:prstGeom prst="line">
            <a:avLst/>
          </a:prstGeom>
          <a:ln w="22225">
            <a:solidFill>
              <a:srgbClr val="0C7B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8513064" y="3399785"/>
            <a:ext cx="164592" cy="0"/>
          </a:xfrm>
          <a:prstGeom prst="line">
            <a:avLst/>
          </a:prstGeom>
          <a:ln w="22225">
            <a:solidFill>
              <a:srgbClr val="0C7B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66928" y="2084832"/>
            <a:ext cx="0" cy="3840480"/>
          </a:xfrm>
          <a:prstGeom prst="line">
            <a:avLst/>
          </a:prstGeom>
          <a:ln w="22225">
            <a:solidFill>
              <a:srgbClr val="2E9E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 rot="16200000">
            <a:off x="-603504" y="3977639"/>
            <a:ext cx="2743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spc="140">
                <a:solidFill>
                  <a:srgbClr val="1E7A52"/>
                </a:solidFill>
                <a:latin typeface="Segoe UI"/>
              </a:rPr>
              <a:t>VALUE FLOWS 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205740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60">
                <a:solidFill>
                  <a:srgbClr val="9AA7B2"/>
                </a:solidFill>
                <a:latin typeface="Segoe UI"/>
              </a:rPr>
              <a:t>WHAT CHANGES</a:t>
            </a:r>
          </a:p>
        </p:txBody>
      </p:sp>
      <p:sp>
        <p:nvSpPr>
          <p:cNvPr id="55" name="Oval 54"/>
          <p:cNvSpPr/>
          <p:nvPr/>
        </p:nvSpPr>
        <p:spPr>
          <a:xfrm>
            <a:off x="9144000" y="2514600"/>
            <a:ext cx="146304" cy="146304"/>
          </a:xfrm>
          <a:prstGeom prst="ellipse">
            <a:avLst/>
          </a:prstGeom>
          <a:solidFill>
            <a:srgbClr val="8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418320" y="2450592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C2B36"/>
                </a:solidFill>
                <a:latin typeface="Segoe UI Semibold"/>
              </a:rPr>
              <a:t>Reason over meaning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20" y="2761488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6B79"/>
                </a:solidFill>
                <a:latin typeface="Segoe UI"/>
              </a:rPr>
              <a:t>Agents work with entities and relationships — not just similar text chunks.</a:t>
            </a:r>
          </a:p>
        </p:txBody>
      </p:sp>
      <p:sp>
        <p:nvSpPr>
          <p:cNvPr id="58" name="Oval 57"/>
          <p:cNvSpPr/>
          <p:nvPr/>
        </p:nvSpPr>
        <p:spPr>
          <a:xfrm>
            <a:off x="9144000" y="3721608"/>
            <a:ext cx="146304" cy="14630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418320" y="365760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C2B36"/>
                </a:solidFill>
                <a:latin typeface="Segoe UI Semibold"/>
              </a:rPr>
              <a:t>Lineage by default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20" y="3968496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6B79"/>
                </a:solidFill>
                <a:latin typeface="Segoe UI"/>
              </a:rPr>
              <a:t>Every claim traces through the graph back to its governed source.</a:t>
            </a:r>
          </a:p>
        </p:txBody>
      </p:sp>
      <p:sp>
        <p:nvSpPr>
          <p:cNvPr id="61" name="Oval 60"/>
          <p:cNvSpPr/>
          <p:nvPr/>
        </p:nvSpPr>
        <p:spPr>
          <a:xfrm>
            <a:off x="9144000" y="4928616"/>
            <a:ext cx="146304" cy="146304"/>
          </a:xfrm>
          <a:prstGeom prst="ellipse">
            <a:avLst/>
          </a:prstGeom>
          <a:solidFill>
            <a:srgbClr val="0C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418320" y="486460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C2B36"/>
                </a:solidFill>
                <a:latin typeface="Segoe UI Semibold"/>
              </a:rPr>
              <a:t>Connect once, reuse everywhere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18320" y="5175504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6B79"/>
                </a:solidFill>
                <a:latin typeface="Segoe UI"/>
              </a:rPr>
              <a:t>New sources snap into the fabric once; every agent benefits instantly.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CF8BBA43-272A-C172-AFBF-2ACA101E9AB6}"/>
              </a:ext>
            </a:extLst>
          </p:cNvPr>
          <p:cNvSpPr/>
          <p:nvPr/>
        </p:nvSpPr>
        <p:spPr>
          <a:xfrm>
            <a:off x="7734301" y="4427201"/>
            <a:ext cx="566928" cy="246888"/>
          </a:xfrm>
          <a:prstGeom prst="roundRect">
            <a:avLst>
              <a:gd name="adj" fmla="val 50000"/>
            </a:avLst>
          </a:prstGeom>
          <a:solidFill>
            <a:srgbClr val="9AA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C59C1BC-568A-2478-0986-66E817698E3C}"/>
              </a:ext>
            </a:extLst>
          </p:cNvPr>
          <p:cNvSpPr txBox="1"/>
          <p:nvPr/>
        </p:nvSpPr>
        <p:spPr>
          <a:xfrm>
            <a:off x="7734301" y="4472921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spc="60">
                <a:solidFill>
                  <a:srgbClr val="1C2B36"/>
                </a:solidFill>
                <a:latin typeface="Segoe UI"/>
              </a:rPr>
              <a:t>TODAY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223C"/>
              </a:gs>
              <a:gs pos="100000">
                <a:srgbClr val="144563"/>
              </a:gs>
            </a:gsLst>
            <a:lin ang="19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55480" y="4572000"/>
            <a:ext cx="1280160" cy="1280160"/>
          </a:xfrm>
          <a:prstGeom prst="ellipse">
            <a:avLst/>
          </a:prstGeom>
          <a:noFill/>
          <a:ln w="11430">
            <a:solidFill>
              <a:srgbClr val="FFFFFF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052560" y="4069080"/>
            <a:ext cx="2286000" cy="2286000"/>
          </a:xfrm>
          <a:prstGeom prst="ellipse">
            <a:avLst/>
          </a:prstGeom>
          <a:noFill/>
          <a:ln w="11430">
            <a:solidFill>
              <a:srgbClr val="FFFFFF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49640" y="3566160"/>
            <a:ext cx="3291840" cy="3291840"/>
          </a:xfrm>
          <a:prstGeom prst="ellipse">
            <a:avLst/>
          </a:prstGeom>
          <a:noFill/>
          <a:ln w="11430">
            <a:solidFill>
              <a:srgbClr val="FFFFFF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12680" y="5029200"/>
            <a:ext cx="365760" cy="36576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200">
                <a:solidFill>
                  <a:srgbClr val="6FD0C2"/>
                </a:solidFill>
                <a:latin typeface="Segoe UI"/>
              </a:rPr>
              <a:t>THE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11680"/>
            <a:ext cx="9692640" cy="1060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dirty="0">
                <a:solidFill>
                  <a:srgbClr val="FFFFFF"/>
                </a:solidFill>
                <a:latin typeface="Segoe UI Semibold"/>
              </a:rPr>
              <a:t>Make evidence easier to use</a:t>
            </a:r>
          </a:p>
          <a:p>
            <a:pPr algn="l">
              <a:lnSpc>
                <a:spcPct val="105000"/>
              </a:lnSpc>
            </a:pPr>
            <a:r>
              <a:rPr sz="3400" b="1" dirty="0">
                <a:solidFill>
                  <a:srgbClr val="FFFFFF"/>
                </a:solidFill>
                <a:latin typeface="Segoe UI Semibold"/>
              </a:rPr>
              <a:t>without losing the ability to verify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94760"/>
            <a:ext cx="7863840" cy="511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dirty="0">
                <a:solidFill>
                  <a:srgbClr val="D9E4EC"/>
                </a:solidFill>
                <a:latin typeface="Segoe UI"/>
              </a:rPr>
              <a:t>IPCC Climate AI turns a hard-to-navigate report library into a governed, source-grounded research conversation and the knowledge fabric makes it enterprise-ready.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20640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spc="240">
                <a:solidFill>
                  <a:srgbClr val="0C7B93"/>
                </a:solidFill>
                <a:latin typeface="Segoe UI Semibold"/>
              </a:rP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2656" y="5120640"/>
            <a:ext cx="14264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spc="240">
                <a:solidFill>
                  <a:srgbClr val="2E9E6B"/>
                </a:solidFill>
                <a:latin typeface="Segoe UI Semibold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5120640"/>
            <a:ext cx="905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spc="240">
                <a:solidFill>
                  <a:srgbClr val="E8A33D"/>
                </a:solidFill>
                <a:latin typeface="Segoe UI Semibold"/>
              </a:rPr>
              <a:t>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20">
                <a:solidFill>
                  <a:srgbClr val="7E95A8"/>
                </a:solidFill>
                <a:latin typeface="Segoe UI"/>
              </a:rPr>
              <a:t>IPCC CLIMATE AI  ·  CEO / CIO BRIEFING  ·  v3.0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1750</Words>
  <Application>Microsoft Macintosh PowerPoint</Application>
  <PresentationFormat>Widescreen</PresentationFormat>
  <Paragraphs>283</Paragraphs>
  <Slides>13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IPCC Climate AI — CEO / CIO Briefing v3.0</dc:title>
  <dc:subject/>
  <dc:creator>IPCC AI / GCP Studio</dc:creator>
  <cp:keywords/>
  <dc:description>generated using python-pptx</dc:description>
  <cp:lastModifiedBy>Arun Kumar G</cp:lastModifiedBy>
  <cp:revision>3</cp:revision>
  <dcterms:created xsi:type="dcterms:W3CDTF">2013-01-27T09:14:16Z</dcterms:created>
  <dcterms:modified xsi:type="dcterms:W3CDTF">2026-08-30T08:10:39Z</dcterms:modified>
  <cp:category/>
</cp:coreProperties>
</file>